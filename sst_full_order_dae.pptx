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65" r:id="rId4"/>
    <p:sldId id="266" r:id="rId5"/>
    <p:sldId id="261" r:id="rId6"/>
    <p:sldId id="260" r:id="rId7"/>
    <p:sldId id="264" r:id="rId8"/>
    <p:sldId id="259" r:id="rId9"/>
    <p:sldId id="258"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showGuides="1">
      <p:cViewPr varScale="1">
        <p:scale>
          <a:sx n="116" d="100"/>
          <a:sy n="116" d="100"/>
        </p:scale>
        <p:origin x="3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EA7DD-A5FE-A75F-F4CA-6347CF474B1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24AA42-640A-22CA-43E1-D4A02666BD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6294ED-0D45-B53F-187E-6572C891775B}"/>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5" name="Footer Placeholder 4">
            <a:extLst>
              <a:ext uri="{FF2B5EF4-FFF2-40B4-BE49-F238E27FC236}">
                <a16:creationId xmlns:a16="http://schemas.microsoft.com/office/drawing/2014/main" id="{1C843857-01AF-D557-CB63-930E33D11B3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12E0E7-7990-247E-D883-14DD361EEA36}"/>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13410385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6FB11-8D04-0BDE-4FB6-98D018C475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119FF89-7546-97F2-4483-2A6DFFD843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738CC1-EA2F-0A66-8EDF-A76A417E740D}"/>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5" name="Footer Placeholder 4">
            <a:extLst>
              <a:ext uri="{FF2B5EF4-FFF2-40B4-BE49-F238E27FC236}">
                <a16:creationId xmlns:a16="http://schemas.microsoft.com/office/drawing/2014/main" id="{A22B45F3-B9CC-B88C-0BCF-55D878D19B0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A6B4E3-09E8-5C2D-969E-24F0A1525030}"/>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12566280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65C8B-E3D2-E81C-0F06-9D7161BDCEE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728A21A-4BE9-59D8-CF18-DCD0F90E3FC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16D2A4-B3BF-B986-B667-F51434B58309}"/>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5" name="Footer Placeholder 4">
            <a:extLst>
              <a:ext uri="{FF2B5EF4-FFF2-40B4-BE49-F238E27FC236}">
                <a16:creationId xmlns:a16="http://schemas.microsoft.com/office/drawing/2014/main" id="{5A45AB96-CD80-7957-3601-30ACB8A68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FB4D89-E04F-8ACE-E22B-B4535C89B965}"/>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2613612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4988A-97CA-2AC9-E2BA-328510FF5EF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34709B1-D18D-DBC7-C095-B707F8497B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D64D0FD-CB12-1E16-7750-98A9FCFE64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CB8FCA0-E9E1-8804-3AD4-50FF46548FA3}"/>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6" name="Footer Placeholder 5">
            <a:extLst>
              <a:ext uri="{FF2B5EF4-FFF2-40B4-BE49-F238E27FC236}">
                <a16:creationId xmlns:a16="http://schemas.microsoft.com/office/drawing/2014/main" id="{6C710B2C-B97D-A7FC-F6A9-305488498D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DF93EB-C9CF-E217-2842-2B55F266B250}"/>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1392238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E9071-8353-7CFA-43CF-E118DD43F91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CF4834-071F-E90E-01E4-0E51689C80A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B11CCE-BCEB-E395-0A2E-C7A4E253289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C92F0DF-280B-8628-DF23-D7146CE84FA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05F077C-45DD-277B-F9E8-76F834ACCE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BD15F8E-6F5F-9C92-5769-87D99F714C4C}"/>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8" name="Footer Placeholder 7">
            <a:extLst>
              <a:ext uri="{FF2B5EF4-FFF2-40B4-BE49-F238E27FC236}">
                <a16:creationId xmlns:a16="http://schemas.microsoft.com/office/drawing/2014/main" id="{1EBF9968-1398-A4C8-1362-BA689E3C9E9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772B98B-0BEE-23B5-E26D-3DD36640817A}"/>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4954104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C6F0D-3543-592D-6043-DD4E05BF77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8B22E8A-AE15-7917-5741-800244BA7F7B}"/>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4" name="Footer Placeholder 3">
            <a:extLst>
              <a:ext uri="{FF2B5EF4-FFF2-40B4-BE49-F238E27FC236}">
                <a16:creationId xmlns:a16="http://schemas.microsoft.com/office/drawing/2014/main" id="{ACD26D04-CAFE-CD6D-6FDF-33447221B9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6E8630-FEF1-7839-DA6E-B4FA04FDCDA3}"/>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32632924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B412FD-4AE2-011F-3AAA-46193E03B888}"/>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3" name="Footer Placeholder 2">
            <a:extLst>
              <a:ext uri="{FF2B5EF4-FFF2-40B4-BE49-F238E27FC236}">
                <a16:creationId xmlns:a16="http://schemas.microsoft.com/office/drawing/2014/main" id="{A73C9A32-40D4-2C2C-399B-E50BA8A5E4D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6AE02A-EFB9-2E1D-AC92-EF5B99B639CA}"/>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39767277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0F498-D7C7-FF72-7AD9-C5F3726870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A87A87D-8849-C081-0C2E-0FED2731B6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386D18-849B-2090-235C-5302175231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D1FE07-B162-2F8E-BB1C-1A5B6C4A9DEC}"/>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6" name="Footer Placeholder 5">
            <a:extLst>
              <a:ext uri="{FF2B5EF4-FFF2-40B4-BE49-F238E27FC236}">
                <a16:creationId xmlns:a16="http://schemas.microsoft.com/office/drawing/2014/main" id="{3EDFBB52-A9CE-2AA1-D554-CCFC979AB18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64EAA19-F32E-2355-295B-8EB6090AC1C4}"/>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3775913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DEEC8-79FA-32DA-5E5D-77C58B0545A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4144DC2-DC99-06EF-F7E8-2BA78B259168}"/>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28D7C2-BE74-62CC-5260-A0422B4AE2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518ED4-4085-F1A9-855F-C75C4A7A4314}"/>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6" name="Footer Placeholder 5">
            <a:extLst>
              <a:ext uri="{FF2B5EF4-FFF2-40B4-BE49-F238E27FC236}">
                <a16:creationId xmlns:a16="http://schemas.microsoft.com/office/drawing/2014/main" id="{748EF82B-E98B-2478-7EEE-7989F10C99B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6E1CED-E708-F75B-9FFE-F36972CC4843}"/>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13299057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F16CC-17D7-EA66-E93C-779B6D5E02A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EBBDA78-5DDA-101B-FF0F-0B4EF87A70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CC1E53-D565-AC1F-5024-AE2B4BD406C8}"/>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5" name="Footer Placeholder 4">
            <a:extLst>
              <a:ext uri="{FF2B5EF4-FFF2-40B4-BE49-F238E27FC236}">
                <a16:creationId xmlns:a16="http://schemas.microsoft.com/office/drawing/2014/main" id="{7D062BBC-9A5F-4B42-59D3-0026EB7B9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D312EA-4817-CF81-6CD9-CA5AE64732B3}"/>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1425979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2DF2B20-B9C0-2DCF-406A-279099F0564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0FC7310-062E-0042-9D0B-AE3386CF8DF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3D1910-3A63-C15A-5CA8-E8E640A60999}"/>
              </a:ext>
            </a:extLst>
          </p:cNvPr>
          <p:cNvSpPr>
            <a:spLocks noGrp="1"/>
          </p:cNvSpPr>
          <p:nvPr>
            <p:ph type="dt" sz="half" idx="10"/>
          </p:nvPr>
        </p:nvSpPr>
        <p:spPr/>
        <p:txBody>
          <a:bodyPr/>
          <a:lstStyle/>
          <a:p>
            <a:fld id="{010F2E1F-455B-AB4C-AFAC-BF1080D637E4}" type="datetimeFigureOut">
              <a:rPr lang="en-US" smtClean="0"/>
              <a:t>10/6/26</a:t>
            </a:fld>
            <a:endParaRPr lang="en-US"/>
          </a:p>
        </p:txBody>
      </p:sp>
      <p:sp>
        <p:nvSpPr>
          <p:cNvPr id="5" name="Footer Placeholder 4">
            <a:extLst>
              <a:ext uri="{FF2B5EF4-FFF2-40B4-BE49-F238E27FC236}">
                <a16:creationId xmlns:a16="http://schemas.microsoft.com/office/drawing/2014/main" id="{E6E7C5DB-4E08-1288-3C6C-C107F3BBA9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CB46BD-22E4-7924-81CA-03E7B0A0E79D}"/>
              </a:ext>
            </a:extLst>
          </p:cNvPr>
          <p:cNvSpPr>
            <a:spLocks noGrp="1"/>
          </p:cNvSpPr>
          <p:nvPr>
            <p:ph type="sldNum" sz="quarter" idx="12"/>
          </p:nvPr>
        </p:nvSpPr>
        <p:spPr/>
        <p:txBody>
          <a:bodyPr/>
          <a:lstStyle/>
          <a:p>
            <a:fld id="{51FDDF0A-3E47-9B4A-AA24-9349EDC7AF25}" type="slidenum">
              <a:rPr lang="en-US" smtClean="0"/>
              <a:t>‹#›</a:t>
            </a:fld>
            <a:endParaRPr lang="en-US"/>
          </a:p>
        </p:txBody>
      </p:sp>
    </p:spTree>
    <p:extLst>
      <p:ext uri="{BB962C8B-B14F-4D97-AF65-F5344CB8AC3E}">
        <p14:creationId xmlns:p14="http://schemas.microsoft.com/office/powerpoint/2010/main" val="16845827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37F0E0-4186-9FCD-5D84-F4EA1EF2A4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22885A-8AA5-E45B-1581-B57EA3E836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32BA027-C454-BD64-4B6B-CA9877A519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10F2E1F-455B-AB4C-AFAC-BF1080D637E4}" type="datetimeFigureOut">
              <a:rPr lang="en-US" smtClean="0"/>
              <a:t>10/6/26</a:t>
            </a:fld>
            <a:endParaRPr lang="en-US"/>
          </a:p>
        </p:txBody>
      </p:sp>
      <p:sp>
        <p:nvSpPr>
          <p:cNvPr id="5" name="Footer Placeholder 4">
            <a:extLst>
              <a:ext uri="{FF2B5EF4-FFF2-40B4-BE49-F238E27FC236}">
                <a16:creationId xmlns:a16="http://schemas.microsoft.com/office/drawing/2014/main" id="{92C97ED7-135C-ED4F-9D04-F374422D23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1BFABAE-FEF3-35F9-35E6-9638AABDA5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DDF0A-3E47-9B4A-AA24-9349EDC7AF25}" type="slidenum">
              <a:rPr lang="en-US" smtClean="0"/>
              <a:t>‹#›</a:t>
            </a:fld>
            <a:endParaRPr lang="en-US"/>
          </a:p>
        </p:txBody>
      </p:sp>
    </p:spTree>
    <p:extLst>
      <p:ext uri="{BB962C8B-B14F-4D97-AF65-F5344CB8AC3E}">
        <p14:creationId xmlns:p14="http://schemas.microsoft.com/office/powerpoint/2010/main" val="11213703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4.emf"/><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emf"/><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emf"/><Relationship Id="rId5" Type="http://schemas.openxmlformats.org/officeDocument/2006/relationships/image" Target="../media/image10.emf"/><Relationship Id="rId4" Type="http://schemas.openxmlformats.org/officeDocument/2006/relationships/image" Target="../media/image9.emf"/></Relationships>
</file>

<file path=ppt/slides/_rels/slide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 Id="rId6" Type="http://schemas.openxmlformats.org/officeDocument/2006/relationships/image" Target="../media/image17.emf"/><Relationship Id="rId5" Type="http://schemas.openxmlformats.org/officeDocument/2006/relationships/image" Target="../media/image16.emf"/><Relationship Id="rId4" Type="http://schemas.openxmlformats.org/officeDocument/2006/relationships/image" Target="../media/image15.emf"/></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Type 4 SST full-order differential-algebraic equations</a:t>
            </a:r>
          </a:p>
        </p:txBody>
      </p:sp>
      <p:sp>
        <p:nvSpPr>
          <p:cNvPr id="3" name="Subtitle 2"/>
          <p:cNvSpPr>
            <a:spLocks noGrp="1"/>
          </p:cNvSpPr>
          <p:nvPr>
            <p:ph type="subTitle" idx="1"/>
          </p:nvPr>
        </p:nvSpPr>
        <p:spPr/>
        <p:txBody>
          <a:bodyPr vert="horz" lIns="91440" tIns="45720" rIns="91440" bIns="45720" rtlCol="0" anchor="t">
            <a:normAutofit/>
          </a:bodyPr>
          <a:lstStyle/>
          <a:p>
            <a:endParaRPr lang="en-US" dirty="0"/>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E1865E28-2683-0E25-6DAD-4D0386DFEB19}"/>
              </a:ext>
            </a:extLst>
          </p:cNvPr>
          <p:cNvGraphicFramePr>
            <a:graphicFrameLocks noGrp="1"/>
          </p:cNvGraphicFramePr>
          <p:nvPr/>
        </p:nvGraphicFramePr>
        <p:xfrm>
          <a:off x="6178822" y="320219"/>
          <a:ext cx="1745978" cy="1854200"/>
        </p:xfrm>
        <a:graphic>
          <a:graphicData uri="http://schemas.openxmlformats.org/drawingml/2006/table">
            <a:tbl>
              <a:tblPr firstRow="1" bandRow="1">
                <a:tableStyleId>{5C22544A-7EE6-4342-B048-85BDC9FD1C3A}</a:tableStyleId>
              </a:tblPr>
              <a:tblGrid>
                <a:gridCol w="837593">
                  <a:extLst>
                    <a:ext uri="{9D8B030D-6E8A-4147-A177-3AD203B41FA5}">
                      <a16:colId xmlns:a16="http://schemas.microsoft.com/office/drawing/2014/main" val="3399047559"/>
                    </a:ext>
                  </a:extLst>
                </a:gridCol>
                <a:gridCol w="908385">
                  <a:extLst>
                    <a:ext uri="{9D8B030D-6E8A-4147-A177-3AD203B41FA5}">
                      <a16:colId xmlns:a16="http://schemas.microsoft.com/office/drawing/2014/main" val="3812956674"/>
                    </a:ext>
                  </a:extLst>
                </a:gridCol>
              </a:tblGrid>
              <a:tr h="370840">
                <a:tc>
                  <a:txBody>
                    <a:bodyPr/>
                    <a:lstStyle/>
                    <a:p>
                      <a:r>
                        <a:rPr lang="en-US" sz="1400" dirty="0"/>
                        <a:t>State</a:t>
                      </a:r>
                    </a:p>
                  </a:txBody>
                  <a:tcPr/>
                </a:tc>
                <a:tc>
                  <a:txBody>
                    <a:bodyPr/>
                    <a:lstStyle/>
                    <a:p>
                      <a:r>
                        <a:rPr lang="en-US" sz="1400" dirty="0"/>
                        <a:t>Value </a:t>
                      </a:r>
                    </a:p>
                  </a:txBody>
                  <a:tcPr/>
                </a:tc>
                <a:extLst>
                  <a:ext uri="{0D108BD9-81ED-4DB2-BD59-A6C34878D82A}">
                    <a16:rowId xmlns:a16="http://schemas.microsoft.com/office/drawing/2014/main" val="2244170369"/>
                  </a:ext>
                </a:extLst>
              </a:tr>
              <a:tr h="370840">
                <a:tc>
                  <a:txBody>
                    <a:bodyPr/>
                    <a:lstStyle/>
                    <a:p>
                      <a:r>
                        <a:rPr lang="en-US" sz="1400" dirty="0"/>
                        <a:t>id*</a:t>
                      </a:r>
                    </a:p>
                  </a:txBody>
                  <a:tcPr/>
                </a:tc>
                <a:tc>
                  <a:txBody>
                    <a:bodyPr/>
                    <a:lstStyle/>
                    <a:p>
                      <a:endParaRPr lang="en-US" sz="1400" dirty="0"/>
                    </a:p>
                  </a:txBody>
                  <a:tcPr/>
                </a:tc>
                <a:extLst>
                  <a:ext uri="{0D108BD9-81ED-4DB2-BD59-A6C34878D82A}">
                    <a16:rowId xmlns:a16="http://schemas.microsoft.com/office/drawing/2014/main" val="1319797422"/>
                  </a:ext>
                </a:extLst>
              </a:tr>
              <a:tr h="370840">
                <a:tc>
                  <a:txBody>
                    <a:bodyPr/>
                    <a:lstStyle/>
                    <a:p>
                      <a:r>
                        <a:rPr lang="en-US" sz="1400" dirty="0" err="1"/>
                        <a:t>id_hat</a:t>
                      </a:r>
                      <a:endParaRPr lang="en-US" sz="1400" dirty="0"/>
                    </a:p>
                  </a:txBody>
                  <a:tcPr/>
                </a:tc>
                <a:tc>
                  <a:txBody>
                    <a:bodyPr/>
                    <a:lstStyle/>
                    <a:p>
                      <a:endParaRPr lang="en-US" sz="1400" dirty="0"/>
                    </a:p>
                  </a:txBody>
                  <a:tcPr/>
                </a:tc>
                <a:extLst>
                  <a:ext uri="{0D108BD9-81ED-4DB2-BD59-A6C34878D82A}">
                    <a16:rowId xmlns:a16="http://schemas.microsoft.com/office/drawing/2014/main" val="2154517696"/>
                  </a:ext>
                </a:extLst>
              </a:tr>
              <a:tr h="370840">
                <a:tc>
                  <a:txBody>
                    <a:bodyPr/>
                    <a:lstStyle/>
                    <a:p>
                      <a:r>
                        <a:rPr lang="en-US" sz="1400" dirty="0" err="1"/>
                        <a:t>vconv,d</a:t>
                      </a:r>
                      <a:endParaRPr lang="en-US" sz="1400" dirty="0"/>
                    </a:p>
                  </a:txBody>
                  <a:tcPr/>
                </a:tc>
                <a:tc>
                  <a:txBody>
                    <a:bodyPr/>
                    <a:lstStyle/>
                    <a:p>
                      <a:endParaRPr lang="en-US" sz="1400" dirty="0"/>
                    </a:p>
                  </a:txBody>
                  <a:tcPr/>
                </a:tc>
                <a:extLst>
                  <a:ext uri="{0D108BD9-81ED-4DB2-BD59-A6C34878D82A}">
                    <a16:rowId xmlns:a16="http://schemas.microsoft.com/office/drawing/2014/main" val="3235213748"/>
                  </a:ext>
                </a:extLst>
              </a:tr>
              <a:tr h="370840">
                <a:tc>
                  <a:txBody>
                    <a:bodyPr/>
                    <a:lstStyle/>
                    <a:p>
                      <a:r>
                        <a:rPr lang="en-US" sz="1400" dirty="0" err="1"/>
                        <a:t>vconv,q</a:t>
                      </a:r>
                      <a:endParaRPr lang="en-US" sz="1400" dirty="0"/>
                    </a:p>
                  </a:txBody>
                  <a:tcPr/>
                </a:tc>
                <a:tc>
                  <a:txBody>
                    <a:bodyPr/>
                    <a:lstStyle/>
                    <a:p>
                      <a:endParaRPr lang="en-US" sz="1400" dirty="0"/>
                    </a:p>
                  </a:txBody>
                  <a:tcPr/>
                </a:tc>
                <a:extLst>
                  <a:ext uri="{0D108BD9-81ED-4DB2-BD59-A6C34878D82A}">
                    <a16:rowId xmlns:a16="http://schemas.microsoft.com/office/drawing/2014/main" val="3227296928"/>
                  </a:ext>
                </a:extLst>
              </a:tr>
            </a:tbl>
          </a:graphicData>
        </a:graphic>
      </p:graphicFrame>
      <p:pic>
        <p:nvPicPr>
          <p:cNvPr id="4" name="Picture 3">
            <a:extLst>
              <a:ext uri="{FF2B5EF4-FFF2-40B4-BE49-F238E27FC236}">
                <a16:creationId xmlns:a16="http://schemas.microsoft.com/office/drawing/2014/main" id="{7130DBA1-56E6-9494-6783-248E6532BC93}"/>
              </a:ext>
            </a:extLst>
          </p:cNvPr>
          <p:cNvPicPr>
            <a:picLocks noChangeAspect="1"/>
          </p:cNvPicPr>
          <p:nvPr/>
        </p:nvPicPr>
        <p:blipFill>
          <a:blip r:embed="rId2"/>
          <a:stretch>
            <a:fillRect/>
          </a:stretch>
        </p:blipFill>
        <p:spPr>
          <a:xfrm>
            <a:off x="219261" y="1950197"/>
            <a:ext cx="5473700" cy="1155700"/>
          </a:xfrm>
          <a:prstGeom prst="rect">
            <a:avLst/>
          </a:prstGeom>
        </p:spPr>
      </p:pic>
      <p:pic>
        <p:nvPicPr>
          <p:cNvPr id="8" name="Picture 7">
            <a:extLst>
              <a:ext uri="{FF2B5EF4-FFF2-40B4-BE49-F238E27FC236}">
                <a16:creationId xmlns:a16="http://schemas.microsoft.com/office/drawing/2014/main" id="{6CD36F27-D502-A480-8162-6EA47F1DF83C}"/>
              </a:ext>
            </a:extLst>
          </p:cNvPr>
          <p:cNvPicPr>
            <a:picLocks noChangeAspect="1"/>
          </p:cNvPicPr>
          <p:nvPr/>
        </p:nvPicPr>
        <p:blipFill>
          <a:blip r:embed="rId3"/>
          <a:stretch>
            <a:fillRect/>
          </a:stretch>
        </p:blipFill>
        <p:spPr>
          <a:xfrm>
            <a:off x="219261" y="1016747"/>
            <a:ext cx="5384800" cy="736600"/>
          </a:xfrm>
          <a:prstGeom prst="rect">
            <a:avLst/>
          </a:prstGeom>
        </p:spPr>
      </p:pic>
    </p:spTree>
    <p:extLst>
      <p:ext uri="{BB962C8B-B14F-4D97-AF65-F5344CB8AC3E}">
        <p14:creationId xmlns:p14="http://schemas.microsoft.com/office/powerpoint/2010/main" val="1012231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8D050-335D-762B-683C-EB64BEF16CED}"/>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3896F0B9-E8E4-87D6-7D56-56EBAB36C1B4}"/>
              </a:ext>
            </a:extLst>
          </p:cNvPr>
          <p:cNvSpPr txBox="1"/>
          <p:nvPr/>
        </p:nvSpPr>
        <p:spPr>
          <a:xfrm>
            <a:off x="488949" y="775275"/>
            <a:ext cx="8210550" cy="3046988"/>
          </a:xfrm>
          <a:prstGeom prst="rect">
            <a:avLst/>
          </a:prstGeom>
          <a:noFill/>
        </p:spPr>
        <p:txBody>
          <a:bodyPr wrap="square" rtlCol="0">
            <a:spAutoFit/>
          </a:bodyPr>
          <a:lstStyle/>
          <a:p>
            <a:r>
              <a:rPr lang="en-US" sz="1200" b="1" dirty="0"/>
              <a:t>Expectations</a:t>
            </a:r>
          </a:p>
          <a:p>
            <a:pPr marL="171450" indent="-171450">
              <a:buFont typeface="Arial" panose="020B0604020202020204" pitchFamily="34" charset="0"/>
              <a:buChar char="•"/>
            </a:pPr>
            <a:r>
              <a:rPr lang="en-US" sz="1200" dirty="0"/>
              <a:t>vg, ig must be about 180 degrees out of phase and </a:t>
            </a:r>
            <a:r>
              <a:rPr lang="en-US" sz="1200" dirty="0" err="1"/>
              <a:t>igd</a:t>
            </a:r>
            <a:r>
              <a:rPr lang="en-US" sz="1200" dirty="0"/>
              <a:t>&lt;0, </a:t>
            </a:r>
            <a:r>
              <a:rPr lang="en-US" sz="1200" dirty="0" err="1"/>
              <a:t>igq</a:t>
            </a:r>
            <a:r>
              <a:rPr lang="en-US" sz="1200" dirty="0"/>
              <a:t>=~0</a:t>
            </a:r>
          </a:p>
          <a:p>
            <a:pPr marL="628650" lvl="1" indent="-171450">
              <a:buFont typeface="Arial" panose="020B0604020202020204" pitchFamily="34" charset="0"/>
              <a:buChar char="•"/>
            </a:pPr>
            <a:r>
              <a:rPr lang="en-US" sz="1200" dirty="0"/>
              <a:t>I chose for the current going from the converter and the capacitor as positive. Meanwhile, the current direction for rectification is opposite of this to service the DC load.</a:t>
            </a:r>
          </a:p>
          <a:p>
            <a:pPr marL="628650" lvl="1" indent="-171450">
              <a:buFont typeface="Arial" panose="020B0604020202020204" pitchFamily="34" charset="0"/>
              <a:buChar char="•"/>
            </a:pPr>
            <a:r>
              <a:rPr lang="en-US" sz="1200" dirty="0"/>
              <a:t>Since vg </a:t>
            </a:r>
          </a:p>
          <a:p>
            <a:pPr marL="171450" indent="-171450">
              <a:buFont typeface="Arial" panose="020B0604020202020204" pitchFamily="34" charset="0"/>
              <a:buChar char="•"/>
            </a:pPr>
            <a:r>
              <a:rPr lang="en-US" sz="1200" dirty="0"/>
              <a:t> </a:t>
            </a:r>
            <a:r>
              <a:rPr lang="en-US" sz="1200" dirty="0" err="1"/>
              <a:t>iL</a:t>
            </a:r>
            <a:r>
              <a:rPr lang="en-US" sz="1200" dirty="0"/>
              <a:t> must lead ig since </a:t>
            </a:r>
            <a:r>
              <a:rPr lang="en-US" sz="1200" dirty="0" err="1"/>
              <a:t>iL</a:t>
            </a:r>
            <a:r>
              <a:rPr lang="en-US" sz="1200" dirty="0"/>
              <a:t> = ig + </a:t>
            </a:r>
            <a:r>
              <a:rPr lang="en-US" sz="1200" dirty="0" err="1"/>
              <a:t>iC</a:t>
            </a:r>
            <a:endParaRPr lang="en-US" sz="1200" dirty="0"/>
          </a:p>
          <a:p>
            <a:pPr marL="171450" indent="-171450">
              <a:buFont typeface="Arial" panose="020B0604020202020204" pitchFamily="34" charset="0"/>
              <a:buChar char="•"/>
            </a:pPr>
            <a:r>
              <a:rPr lang="en-US" sz="1200" dirty="0"/>
              <a:t>vg and </a:t>
            </a:r>
            <a:r>
              <a:rPr lang="en-US" sz="1200" dirty="0" err="1"/>
              <a:t>vC</a:t>
            </a:r>
            <a:r>
              <a:rPr lang="en-US" sz="1200" dirty="0"/>
              <a:t> must be almost equal. The small difference between the two is needed to drive current across the grid-side conductor</a:t>
            </a:r>
          </a:p>
          <a:p>
            <a:pPr marL="171450" indent="-171450">
              <a:buFont typeface="Arial" panose="020B0604020202020204" pitchFamily="34" charset="0"/>
              <a:buChar char="•"/>
            </a:pPr>
            <a:endParaRPr lang="en-US" sz="1200" dirty="0"/>
          </a:p>
          <a:p>
            <a:r>
              <a:rPr lang="en-US" sz="1200" b="1" dirty="0"/>
              <a:t>Observations</a:t>
            </a:r>
          </a:p>
          <a:p>
            <a:pPr marL="171450" indent="-171450">
              <a:buFont typeface="Arial" panose="020B0604020202020204" pitchFamily="34" charset="0"/>
              <a:buChar char="•"/>
            </a:pPr>
            <a:r>
              <a:rPr lang="en-US" sz="1200" dirty="0"/>
              <a:t>vg and ig are almost 180 degrees out of phase, with ig leading vg</a:t>
            </a:r>
          </a:p>
          <a:p>
            <a:pPr marL="171450" indent="-171450">
              <a:buFont typeface="Arial" panose="020B0604020202020204" pitchFamily="34" charset="0"/>
              <a:buChar char="•"/>
            </a:pPr>
            <a:r>
              <a:rPr lang="en-US" sz="1200" dirty="0"/>
              <a:t>ig &gt; 0</a:t>
            </a:r>
          </a:p>
          <a:p>
            <a:pPr marL="171450" indent="-171450">
              <a:buFont typeface="Arial" panose="020B0604020202020204" pitchFamily="34" charset="0"/>
              <a:buChar char="•"/>
            </a:pPr>
            <a:r>
              <a:rPr lang="en-US" sz="1200" dirty="0" err="1"/>
              <a:t>iL</a:t>
            </a:r>
            <a:r>
              <a:rPr lang="en-US" sz="1200" dirty="0"/>
              <a:t> lags ig</a:t>
            </a:r>
          </a:p>
          <a:p>
            <a:pPr marL="171450" indent="-171450">
              <a:buFont typeface="Arial" panose="020B0604020202020204" pitchFamily="34" charset="0"/>
              <a:buChar char="•"/>
            </a:pPr>
            <a:r>
              <a:rPr lang="en-US" sz="1200" dirty="0"/>
              <a:t>vg and </a:t>
            </a:r>
            <a:r>
              <a:rPr lang="en-US" sz="1200" dirty="0" err="1"/>
              <a:t>vC</a:t>
            </a:r>
            <a:r>
              <a:rPr lang="en-US" sz="1200" dirty="0"/>
              <a:t> are equal</a:t>
            </a:r>
          </a:p>
          <a:p>
            <a:pPr marL="171450" indent="-171450">
              <a:buFont typeface="Arial" panose="020B0604020202020204" pitchFamily="34" charset="0"/>
              <a:buChar char="•"/>
            </a:pPr>
            <a:r>
              <a:rPr lang="en-US" sz="1200" dirty="0"/>
              <a:t>From the check below, the plant equations hold when I use the script-generated average values.</a:t>
            </a:r>
          </a:p>
          <a:p>
            <a:pPr marL="171450" indent="-171450">
              <a:buFont typeface="Arial" panose="020B0604020202020204" pitchFamily="34" charset="0"/>
              <a:buChar char="•"/>
            </a:pPr>
            <a:endParaRPr lang="en-US" sz="1200" dirty="0"/>
          </a:p>
        </p:txBody>
      </p:sp>
      <p:sp>
        <p:nvSpPr>
          <p:cNvPr id="22" name="TextBox 21">
            <a:extLst>
              <a:ext uri="{FF2B5EF4-FFF2-40B4-BE49-F238E27FC236}">
                <a16:creationId xmlns:a16="http://schemas.microsoft.com/office/drawing/2014/main" id="{CE49D272-09B4-69E2-446E-6FCB92C3EED3}"/>
              </a:ext>
            </a:extLst>
          </p:cNvPr>
          <p:cNvSpPr txBox="1"/>
          <p:nvPr/>
        </p:nvSpPr>
        <p:spPr>
          <a:xfrm>
            <a:off x="203199" y="190500"/>
            <a:ext cx="11345926" cy="584775"/>
          </a:xfrm>
          <a:prstGeom prst="rect">
            <a:avLst/>
          </a:prstGeom>
          <a:noFill/>
        </p:spPr>
        <p:txBody>
          <a:bodyPr wrap="none" rtlCol="0">
            <a:spAutoFit/>
          </a:bodyPr>
          <a:lstStyle/>
          <a:p>
            <a:r>
              <a:rPr lang="en-US" sz="3200" dirty="0"/>
              <a:t>Rectifier – troubleshooting the grid-side state </a:t>
            </a:r>
            <a:r>
              <a:rPr lang="en-US" sz="3200"/>
              <a:t>phase differences</a:t>
            </a:r>
            <a:endParaRPr lang="en-US" sz="3200" dirty="0"/>
          </a:p>
        </p:txBody>
      </p:sp>
      <p:graphicFrame>
        <p:nvGraphicFramePr>
          <p:cNvPr id="24" name="Table 23">
            <a:extLst>
              <a:ext uri="{FF2B5EF4-FFF2-40B4-BE49-F238E27FC236}">
                <a16:creationId xmlns:a16="http://schemas.microsoft.com/office/drawing/2014/main" id="{8C091F0F-3739-C8D8-1146-A41018CF1013}"/>
              </a:ext>
            </a:extLst>
          </p:cNvPr>
          <p:cNvGraphicFramePr>
            <a:graphicFrameLocks noGrp="1"/>
          </p:cNvGraphicFramePr>
          <p:nvPr/>
        </p:nvGraphicFramePr>
        <p:xfrm>
          <a:off x="9491230" y="922970"/>
          <a:ext cx="1781176" cy="2468880"/>
        </p:xfrm>
        <a:graphic>
          <a:graphicData uri="http://schemas.openxmlformats.org/drawingml/2006/table">
            <a:tbl>
              <a:tblPr firstRow="1" bandRow="1">
                <a:tableStyleId>{5C22544A-7EE6-4342-B048-85BDC9FD1C3A}</a:tableStyleId>
              </a:tblPr>
              <a:tblGrid>
                <a:gridCol w="837593">
                  <a:extLst>
                    <a:ext uri="{9D8B030D-6E8A-4147-A177-3AD203B41FA5}">
                      <a16:colId xmlns:a16="http://schemas.microsoft.com/office/drawing/2014/main" val="3399047559"/>
                    </a:ext>
                  </a:extLst>
                </a:gridCol>
                <a:gridCol w="943583">
                  <a:extLst>
                    <a:ext uri="{9D8B030D-6E8A-4147-A177-3AD203B41FA5}">
                      <a16:colId xmlns:a16="http://schemas.microsoft.com/office/drawing/2014/main" val="3812956674"/>
                    </a:ext>
                  </a:extLst>
                </a:gridCol>
              </a:tblGrid>
              <a:tr h="211607">
                <a:tc>
                  <a:txBody>
                    <a:bodyPr/>
                    <a:lstStyle/>
                    <a:p>
                      <a:r>
                        <a:rPr lang="en-US" sz="1200" dirty="0"/>
                        <a:t>State</a:t>
                      </a:r>
                    </a:p>
                  </a:txBody>
                  <a:tcPr/>
                </a:tc>
                <a:tc>
                  <a:txBody>
                    <a:bodyPr/>
                    <a:lstStyle/>
                    <a:p>
                      <a:r>
                        <a:rPr lang="en-US" sz="1200" dirty="0"/>
                        <a:t>Value </a:t>
                      </a:r>
                    </a:p>
                  </a:txBody>
                  <a:tcPr/>
                </a:tc>
                <a:extLst>
                  <a:ext uri="{0D108BD9-81ED-4DB2-BD59-A6C34878D82A}">
                    <a16:rowId xmlns:a16="http://schemas.microsoft.com/office/drawing/2014/main" val="2244170369"/>
                  </a:ext>
                </a:extLst>
              </a:tr>
              <a:tr h="211607">
                <a:tc>
                  <a:txBody>
                    <a:bodyPr/>
                    <a:lstStyle/>
                    <a:p>
                      <a:r>
                        <a:rPr lang="en-US" sz="1200" dirty="0" err="1"/>
                        <a:t>iLd</a:t>
                      </a:r>
                      <a:endParaRPr lang="en-US" sz="1200" dirty="0"/>
                    </a:p>
                  </a:txBody>
                  <a:tcPr/>
                </a:tc>
                <a:tc>
                  <a:txBody>
                    <a:bodyPr/>
                    <a:lstStyle/>
                    <a:p>
                      <a:r>
                        <a:rPr lang="en-US" sz="1200" dirty="0"/>
                        <a:t>2.2929</a:t>
                      </a:r>
                    </a:p>
                  </a:txBody>
                  <a:tcPr/>
                </a:tc>
                <a:extLst>
                  <a:ext uri="{0D108BD9-81ED-4DB2-BD59-A6C34878D82A}">
                    <a16:rowId xmlns:a16="http://schemas.microsoft.com/office/drawing/2014/main" val="1319797422"/>
                  </a:ext>
                </a:extLst>
              </a:tr>
              <a:tr h="211607">
                <a:tc>
                  <a:txBody>
                    <a:bodyPr/>
                    <a:lstStyle/>
                    <a:p>
                      <a:r>
                        <a:rPr lang="en-US" sz="1200" dirty="0" err="1"/>
                        <a:t>iLq</a:t>
                      </a:r>
                      <a:endParaRPr lang="en-US" sz="1200" dirty="0"/>
                    </a:p>
                  </a:txBody>
                  <a:tcPr/>
                </a:tc>
                <a:tc>
                  <a:txBody>
                    <a:bodyPr/>
                    <a:lstStyle/>
                    <a:p>
                      <a:r>
                        <a:rPr lang="en-US" sz="1200" dirty="0"/>
                        <a:t>6.2160</a:t>
                      </a:r>
                    </a:p>
                  </a:txBody>
                  <a:tcPr/>
                </a:tc>
                <a:extLst>
                  <a:ext uri="{0D108BD9-81ED-4DB2-BD59-A6C34878D82A}">
                    <a16:rowId xmlns:a16="http://schemas.microsoft.com/office/drawing/2014/main" val="2154517696"/>
                  </a:ext>
                </a:extLst>
              </a:tr>
              <a:tr h="211607">
                <a:tc>
                  <a:txBody>
                    <a:bodyPr/>
                    <a:lstStyle/>
                    <a:p>
                      <a:r>
                        <a:rPr lang="en-US" sz="1200" dirty="0" err="1"/>
                        <a:t>delta_iL</a:t>
                      </a:r>
                      <a:endParaRPr lang="en-US" sz="1200" dirty="0"/>
                    </a:p>
                  </a:txBody>
                  <a:tcPr/>
                </a:tc>
                <a:tc>
                  <a:txBody>
                    <a:bodyPr/>
                    <a:lstStyle/>
                    <a:p>
                      <a:r>
                        <a:rPr lang="en-US" sz="1200" dirty="0"/>
                        <a:t>69.7525</a:t>
                      </a:r>
                    </a:p>
                  </a:txBody>
                  <a:tcPr/>
                </a:tc>
                <a:extLst>
                  <a:ext uri="{0D108BD9-81ED-4DB2-BD59-A6C34878D82A}">
                    <a16:rowId xmlns:a16="http://schemas.microsoft.com/office/drawing/2014/main" val="3235213748"/>
                  </a:ext>
                </a:extLst>
              </a:tr>
              <a:tr h="211607">
                <a:tc>
                  <a:txBody>
                    <a:bodyPr/>
                    <a:lstStyle/>
                    <a:p>
                      <a:r>
                        <a:rPr lang="en-US" sz="1200" dirty="0" err="1"/>
                        <a:t>igd</a:t>
                      </a:r>
                      <a:endParaRPr lang="en-US" sz="1200" dirty="0"/>
                    </a:p>
                  </a:txBody>
                  <a:tcPr/>
                </a:tc>
                <a:tc>
                  <a:txBody>
                    <a:bodyPr/>
                    <a:lstStyle/>
                    <a:p>
                      <a:r>
                        <a:rPr lang="en-US" sz="1200" dirty="0"/>
                        <a:t>2.3176</a:t>
                      </a:r>
                    </a:p>
                  </a:txBody>
                  <a:tcPr/>
                </a:tc>
                <a:extLst>
                  <a:ext uri="{0D108BD9-81ED-4DB2-BD59-A6C34878D82A}">
                    <a16:rowId xmlns:a16="http://schemas.microsoft.com/office/drawing/2014/main" val="3227296928"/>
                  </a:ext>
                </a:extLst>
              </a:tr>
              <a:tr h="211607">
                <a:tc>
                  <a:txBody>
                    <a:bodyPr/>
                    <a:lstStyle/>
                    <a:p>
                      <a:r>
                        <a:rPr lang="en-US" sz="1200" dirty="0" err="1"/>
                        <a:t>igq</a:t>
                      </a:r>
                      <a:endParaRPr lang="en-US" sz="1200" dirty="0"/>
                    </a:p>
                  </a:txBody>
                  <a:tcPr/>
                </a:tc>
                <a:tc>
                  <a:txBody>
                    <a:bodyPr/>
                    <a:lstStyle/>
                    <a:p>
                      <a:r>
                        <a:rPr lang="en-US" sz="1200" dirty="0"/>
                        <a:t>-0.2133</a:t>
                      </a:r>
                    </a:p>
                  </a:txBody>
                  <a:tcPr/>
                </a:tc>
                <a:extLst>
                  <a:ext uri="{0D108BD9-81ED-4DB2-BD59-A6C34878D82A}">
                    <a16:rowId xmlns:a16="http://schemas.microsoft.com/office/drawing/2014/main" val="2283869215"/>
                  </a:ext>
                </a:extLst>
              </a:tr>
              <a:tr h="211607">
                <a:tc>
                  <a:txBody>
                    <a:bodyPr/>
                    <a:lstStyle/>
                    <a:p>
                      <a:r>
                        <a:rPr lang="en-US" sz="1200" dirty="0" err="1"/>
                        <a:t>delta_ig</a:t>
                      </a:r>
                      <a:endParaRPr lang="en-US" sz="1200" dirty="0"/>
                    </a:p>
                  </a:txBody>
                  <a:tcPr/>
                </a:tc>
                <a:tc>
                  <a:txBody>
                    <a:bodyPr/>
                    <a:lstStyle/>
                    <a:p>
                      <a:r>
                        <a:rPr lang="en-US" sz="1200" dirty="0"/>
                        <a:t>-5.2576</a:t>
                      </a:r>
                    </a:p>
                  </a:txBody>
                  <a:tcPr/>
                </a:tc>
                <a:extLst>
                  <a:ext uri="{0D108BD9-81ED-4DB2-BD59-A6C34878D82A}">
                    <a16:rowId xmlns:a16="http://schemas.microsoft.com/office/drawing/2014/main" val="4107363039"/>
                  </a:ext>
                </a:extLst>
              </a:tr>
              <a:tr h="211607">
                <a:tc>
                  <a:txBody>
                    <a:bodyPr/>
                    <a:lstStyle/>
                    <a:p>
                      <a:r>
                        <a:rPr lang="en-US" sz="1200" dirty="0" err="1"/>
                        <a:t>vCq</a:t>
                      </a:r>
                      <a:endParaRPr lang="en-US" sz="1200" dirty="0"/>
                    </a:p>
                  </a:txBody>
                  <a:tcPr/>
                </a:tc>
                <a:tc>
                  <a:txBody>
                    <a:bodyPr/>
                    <a:lstStyle/>
                    <a:p>
                      <a:r>
                        <a:rPr lang="en-US" sz="1200" dirty="0"/>
                        <a:t>0.6563</a:t>
                      </a:r>
                    </a:p>
                  </a:txBody>
                  <a:tcPr/>
                </a:tc>
                <a:extLst>
                  <a:ext uri="{0D108BD9-81ED-4DB2-BD59-A6C34878D82A}">
                    <a16:rowId xmlns:a16="http://schemas.microsoft.com/office/drawing/2014/main" val="3232197740"/>
                  </a:ext>
                </a:extLst>
              </a:tr>
              <a:tr h="211607">
                <a:tc>
                  <a:txBody>
                    <a:bodyPr/>
                    <a:lstStyle/>
                    <a:p>
                      <a:r>
                        <a:rPr lang="en-US" sz="1200" dirty="0" err="1"/>
                        <a:t>vCd</a:t>
                      </a:r>
                      <a:endParaRPr lang="en-US" sz="1200" dirty="0"/>
                    </a:p>
                  </a:txBody>
                  <a:tcPr/>
                </a:tc>
                <a:tc>
                  <a:txBody>
                    <a:bodyPr/>
                    <a:lstStyle/>
                    <a:p>
                      <a:endParaRPr lang="en-US" sz="1200" dirty="0"/>
                    </a:p>
                  </a:txBody>
                  <a:tcPr/>
                </a:tc>
                <a:extLst>
                  <a:ext uri="{0D108BD9-81ED-4DB2-BD59-A6C34878D82A}">
                    <a16:rowId xmlns:a16="http://schemas.microsoft.com/office/drawing/2014/main" val="1570904013"/>
                  </a:ext>
                </a:extLst>
              </a:tr>
            </a:tbl>
          </a:graphicData>
        </a:graphic>
      </p:graphicFrame>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12C99452-F264-1D65-4072-6A0546135F31}"/>
                  </a:ext>
                </a:extLst>
              </p:cNvPr>
              <p:cNvSpPr txBox="1"/>
              <p:nvPr/>
            </p:nvSpPr>
            <p:spPr>
              <a:xfrm>
                <a:off x="488949" y="3539546"/>
                <a:ext cx="7165615" cy="2932406"/>
              </a:xfrm>
              <a:prstGeom prst="rect">
                <a:avLst/>
              </a:prstGeom>
              <a:noFill/>
            </p:spPr>
            <p:txBody>
              <a:bodyPr wrap="square">
                <a:spAutoFit/>
              </a:bodyPr>
              <a:lstStyle/>
              <a:p>
                <a:r>
                  <a:rPr lang="en-US" sz="1200" dirty="0">
                    <a:latin typeface="Calibri" panose="020F0502020204030204" pitchFamily="34" charset="0"/>
                    <a:ea typeface="Calibri" panose="020F0502020204030204" pitchFamily="34" charset="0"/>
                    <a:cs typeface="Calibri" panose="020F0502020204030204" pitchFamily="34" charset="0"/>
                  </a:rPr>
                  <a:t>Checking whether the plant equations make sense. </a:t>
                </a: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At steady state, </a:t>
                </a: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e>
                    </m:acc>
                    <m:r>
                      <a:rPr lang="en-US" sz="1200" b="0" i="1" smtClean="0">
                        <a:latin typeface="Cambria Math" panose="02040503050406030204" pitchFamily="18" charset="0"/>
                      </a:rPr>
                      <m:t>=0</m:t>
                    </m:r>
                  </m:oMath>
                </a14:m>
                <a:endParaRPr lang="en-US" sz="1200" dirty="0">
                  <a:latin typeface="Calibri" panose="020F0502020204030204" pitchFamily="34" charset="0"/>
                  <a:ea typeface="Calibri" panose="020F0502020204030204" pitchFamily="34" charset="0"/>
                  <a:cs typeface="Calibri" panose="020F0502020204030204" pitchFamily="34" charset="0"/>
                </a:endParaRPr>
              </a:p>
              <a:p>
                <a:pPr/>
                <a14:m>
                  <m:oMathPara xmlns:m="http://schemas.openxmlformats.org/officeDocument/2006/math">
                    <m:o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num>
                        <m:den>
                          <m:r>
                            <a:rPr lang="en-US" sz="1200" i="1">
                              <a:latin typeface="Cambria Math" panose="02040503050406030204" pitchFamily="18" charset="0"/>
                            </a:rPr>
                            <m:t>𝐶</m:t>
                          </m:r>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oMath>
                  </m:oMathPara>
                </a14:m>
                <a:endParaRPr lang="en-US" sz="1200" dirty="0"/>
              </a:p>
              <a:p>
                <a:pPr/>
                <a14:m>
                  <m:oMathPara xmlns:m="http://schemas.openxmlformats.org/officeDocument/2006/math">
                    <m:oMath>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sSup>
                        <m:sSupPr>
                          <m:ctrlPr>
                            <a:rPr lang="en-US" sz="1200" i="1">
                              <a:latin typeface="Cambria Math" panose="02040503050406030204" pitchFamily="18" charset="0"/>
                            </a:rPr>
                          </m:ctrlPr>
                        </m:sSupPr>
                        <m:e>
                          <m:r>
                            <a:rPr lang="en-US" sz="1200" i="1">
                              <a:latin typeface="Cambria Math" panose="02040503050406030204" pitchFamily="18" charset="0"/>
                            </a:rPr>
                            <m:t>=</m:t>
                          </m:r>
                        </m:e>
                        <m:sup>
                          <m:r>
                            <a:rPr lang="en-US" sz="1200" i="1">
                              <a:latin typeface="Cambria Math" panose="02040503050406030204" pitchFamily="18" charset="0"/>
                            </a:rPr>
                            <m:t>?</m:t>
                          </m:r>
                        </m:sup>
                      </m:sSup>
                      <m:sSub>
                        <m:sSubPr>
                          <m:ctrlPr>
                            <a:rPr lang="en-US" sz="1200" i="1">
                              <a:latin typeface="Cambria Math" panose="02040503050406030204" pitchFamily="18" charset="0"/>
                            </a:rPr>
                          </m:ctrlPr>
                        </m:sSubPr>
                        <m:e>
                          <m:r>
                            <a:rPr lang="en-US" sz="1200" i="1">
                              <a:latin typeface="Cambria Math" panose="02040503050406030204" pitchFamily="18" charset="0"/>
                            </a:rPr>
                            <m:t>−</m:t>
                          </m:r>
                          <m:r>
                            <a:rPr lang="en-US" sz="1200" i="1">
                              <a:latin typeface="Cambria Math" panose="02040503050406030204" pitchFamily="18" charset="0"/>
                            </a:rPr>
                            <m:t>𝜔</m:t>
                          </m:r>
                        </m:e>
                        <m:sub>
                          <m:r>
                            <a:rPr lang="en-US" sz="1200" i="1">
                              <a:latin typeface="Cambria Math" panose="02040503050406030204" pitchFamily="18" charset="0"/>
                            </a:rPr>
                            <m:t>0</m:t>
                          </m:r>
                        </m:sub>
                      </m:sSub>
                      <m:r>
                        <a:rPr lang="en-US" sz="1200" i="1">
                          <a:latin typeface="Cambria Math" panose="02040503050406030204" pitchFamily="18" charset="0"/>
                        </a:rPr>
                        <m:t>𝐶</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oMath>
                  </m:oMathPara>
                </a14:m>
                <a:endParaRPr lang="en-US" sz="1200" dirty="0"/>
              </a:p>
              <a:p>
                <a:pPr/>
                <a14:m>
                  <m:oMathPara xmlns:m="http://schemas.openxmlformats.org/officeDocument/2006/math">
                    <m:oMath>
                      <m:r>
                        <a:rPr lang="en-US" sz="1200" i="1">
                          <a:latin typeface="Cambria Math" panose="02040503050406030204" pitchFamily="18" charset="0"/>
                        </a:rPr>
                        <m:t>2.2929−2.3176</m:t>
                      </m:r>
                      <m:sSup>
                        <m:sSupPr>
                          <m:ctrlPr>
                            <a:rPr lang="en-US" sz="1200" i="1">
                              <a:latin typeface="Cambria Math" panose="02040503050406030204" pitchFamily="18" charset="0"/>
                            </a:rPr>
                          </m:ctrlPr>
                        </m:sSupPr>
                        <m:e>
                          <m:r>
                            <a:rPr lang="en-US" sz="1200" i="1">
                              <a:latin typeface="Cambria Math" panose="02040503050406030204" pitchFamily="18" charset="0"/>
                            </a:rPr>
                            <m:t>=</m:t>
                          </m:r>
                        </m:e>
                        <m:sup>
                          <m:r>
                            <a:rPr lang="en-US" sz="1200" i="1">
                              <a:latin typeface="Cambria Math" panose="02040503050406030204" pitchFamily="18" charset="0"/>
                            </a:rPr>
                            <m:t>?</m:t>
                          </m:r>
                        </m:sup>
                      </m:sSup>
                      <m:r>
                        <a:rPr lang="en-US" sz="1200" i="1">
                          <a:latin typeface="Cambria Math" panose="02040503050406030204" pitchFamily="18" charset="0"/>
                        </a:rPr>
                        <m:t>−</m:t>
                      </m:r>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rPr>
                            <m:t>𝜋</m:t>
                          </m:r>
                          <m:r>
                            <a:rPr lang="en-US" sz="1200" i="1">
                              <a:latin typeface="Cambria Math" panose="02040503050406030204" pitchFamily="18" charset="0"/>
                            </a:rPr>
                            <m:t>60</m:t>
                          </m:r>
                        </m:e>
                      </m:d>
                      <m:r>
                        <a:rPr lang="en-US" sz="1200" i="1">
                          <a:latin typeface="Cambria Math" panose="02040503050406030204" pitchFamily="18" charset="0"/>
                        </a:rPr>
                        <m:t>(100</m:t>
                      </m:r>
                      <m:r>
                        <a:rPr lang="en-US" sz="1200" i="1">
                          <a:latin typeface="Cambria Math" panose="02040503050406030204" pitchFamily="18" charset="0"/>
                        </a:rPr>
                        <m:t>𝜇</m:t>
                      </m:r>
                      <m:r>
                        <a:rPr lang="en-US" sz="1200" i="1">
                          <a:latin typeface="Cambria Math" panose="02040503050406030204" pitchFamily="18" charset="0"/>
                        </a:rPr>
                        <m:t>𝐹</m:t>
                      </m:r>
                      <m:r>
                        <a:rPr lang="en-US" sz="1200" i="1">
                          <a:latin typeface="Cambria Math" panose="02040503050406030204" pitchFamily="18" charset="0"/>
                        </a:rPr>
                        <m:t>)</m:t>
                      </m:r>
                      <m:d>
                        <m:dPr>
                          <m:ctrlPr>
                            <a:rPr lang="en-US" sz="1200" i="1">
                              <a:latin typeface="Cambria Math" panose="02040503050406030204" pitchFamily="18" charset="0"/>
                            </a:rPr>
                          </m:ctrlPr>
                        </m:dPr>
                        <m:e>
                          <m:r>
                            <a:rPr lang="en-US" sz="1200" i="1">
                              <a:latin typeface="Cambria Math" panose="02040503050406030204" pitchFamily="18" charset="0"/>
                            </a:rPr>
                            <m:t>0.6563</m:t>
                          </m:r>
                        </m:e>
                      </m:d>
                    </m:oMath>
                  </m:oMathPara>
                </a14:m>
                <a:endParaRPr lang="en-US" sz="1200" dirty="0"/>
              </a:p>
              <a:p>
                <a:pPr/>
                <a14:m>
                  <m:oMathPara xmlns:m="http://schemas.openxmlformats.org/officeDocument/2006/math">
                    <m:oMath>
                      <m:r>
                        <a:rPr lang="en-US" sz="1200" i="1">
                          <a:latin typeface="Cambria Math" panose="02040503050406030204" pitchFamily="18" charset="0"/>
                        </a:rPr>
                        <m:t>−0.0247=−0.0247</m:t>
                      </m:r>
                    </m:oMath>
                  </m:oMathPara>
                </a14:m>
                <a:endParaRPr lang="en-US" sz="1200" dirty="0">
                  <a:latin typeface="Calibri" panose="020F0502020204030204" pitchFamily="34" charset="0"/>
                  <a:ea typeface="Calibri" panose="020F0502020204030204" pitchFamily="34" charset="0"/>
                  <a:cs typeface="Calibri" panose="020F0502020204030204" pitchFamily="34" charset="0"/>
                </a:endParaRPr>
              </a:p>
              <a:p>
                <a:pPr marL="171450" indent="-171450">
                  <a:buFont typeface="Arial" panose="020B0604020202020204" pitchFamily="34" charset="0"/>
                  <a:buChar char="•"/>
                </a:pPr>
                <a:r>
                  <a:rPr lang="en-US" sz="1200" dirty="0">
                    <a:latin typeface="Calibri" panose="020F0502020204030204" pitchFamily="34" charset="0"/>
                    <a:ea typeface="Calibri" panose="020F0502020204030204" pitchFamily="34" charset="0"/>
                    <a:cs typeface="Calibri" panose="020F0502020204030204" pitchFamily="34" charset="0"/>
                  </a:rPr>
                  <a:t>Now checking the q-axis capacitor equation at steady state. </a:t>
                </a: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𝑣</m:t>
                                </m:r>
                              </m:e>
                            </m:acc>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e>
                    </m:acc>
                    <m:r>
                      <a:rPr lang="en-US" sz="1200" i="1">
                        <a:latin typeface="Cambria Math" panose="02040503050406030204" pitchFamily="18" charset="0"/>
                      </a:rPr>
                      <m:t>=</m:t>
                    </m:r>
                    <m:r>
                      <a:rPr lang="en-US" sz="1200" b="0" i="1" smtClean="0">
                        <a:latin typeface="Cambria Math" panose="02040503050406030204" pitchFamily="18" charset="0"/>
                      </a:rPr>
                      <m:t>0</m:t>
                    </m:r>
                  </m:oMath>
                </a14:m>
                <a:endParaRPr lang="en-US" sz="1200" dirty="0">
                  <a:latin typeface="Calibri" panose="020F0502020204030204" pitchFamily="34" charset="0"/>
                  <a:ea typeface="Calibri" panose="020F0502020204030204" pitchFamily="34" charset="0"/>
                  <a:cs typeface="Calibri" panose="020F0502020204030204" pitchFamily="34" charset="0"/>
                </a:endParaRPr>
              </a:p>
              <a:p>
                <a:pPr/>
                <a14:m>
                  <m:oMathPara xmlns:m="http://schemas.openxmlformats.org/officeDocument/2006/math">
                    <m:oMath>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b="0" i="1" smtClean="0">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i="1">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𝑞</m:t>
                              </m:r>
                            </m:sub>
                          </m:sSub>
                        </m:num>
                        <m:den>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r>
                            <a:rPr lang="en-US" sz="1200" i="1">
                              <a:latin typeface="Cambria Math" panose="02040503050406030204" pitchFamily="18" charset="0"/>
                            </a:rPr>
                            <m:t>𝐶</m:t>
                          </m:r>
                        </m:den>
                      </m:f>
                    </m:oMath>
                  </m:oMathPara>
                </a14:m>
                <a:endParaRPr lang="en-US" sz="1200" dirty="0">
                  <a:latin typeface="Calibri" panose="020F0502020204030204" pitchFamily="34" charset="0"/>
                  <a:ea typeface="Calibri" panose="020F0502020204030204" pitchFamily="34" charset="0"/>
                  <a:cs typeface="Calibri" panose="020F0502020204030204" pitchFamily="34" charset="0"/>
                </a:endParaRPr>
              </a:p>
              <a:p>
                <a:pPr/>
                <a14:m>
                  <m:oMathPara xmlns:m="http://schemas.openxmlformats.org/officeDocument/2006/math">
                    <m:oMath>
                      <m:f>
                        <m:fPr>
                          <m:ctrlPr>
                            <a:rPr lang="en-US" sz="1200" i="1">
                              <a:latin typeface="Cambria Math" panose="02040503050406030204" pitchFamily="18" charset="0"/>
                            </a:rPr>
                          </m:ctrlPr>
                        </m:fPr>
                        <m:num>
                          <m:r>
                            <a:rPr lang="en-US" sz="1200" i="1">
                              <a:latin typeface="Cambria Math" panose="02040503050406030204" pitchFamily="18" charset="0"/>
                            </a:rPr>
                            <m:t>6.2160−(−0.2133)</m:t>
                          </m:r>
                        </m:num>
                        <m:den>
                          <m:d>
                            <m:dPr>
                              <m:ctrlPr>
                                <a:rPr lang="en-US" sz="1200" i="1">
                                  <a:latin typeface="Cambria Math" panose="02040503050406030204" pitchFamily="18" charset="0"/>
                                </a:rPr>
                              </m:ctrlPr>
                            </m:dPr>
                            <m:e>
                              <m:r>
                                <a:rPr lang="en-US" sz="1200" i="1">
                                  <a:latin typeface="Cambria Math" panose="02040503050406030204" pitchFamily="18" charset="0"/>
                                </a:rPr>
                                <m:t>2</m:t>
                              </m:r>
                              <m:r>
                                <a:rPr lang="en-US" sz="1200" i="1">
                                  <a:latin typeface="Cambria Math" panose="02040503050406030204" pitchFamily="18" charset="0"/>
                                </a:rPr>
                                <m:t>𝜋</m:t>
                              </m:r>
                              <m:r>
                                <a:rPr lang="en-US" sz="1200" i="1">
                                  <a:latin typeface="Cambria Math" panose="02040503050406030204" pitchFamily="18" charset="0"/>
                                </a:rPr>
                                <m:t>60</m:t>
                              </m:r>
                            </m:e>
                          </m:d>
                          <m:r>
                            <a:rPr lang="en-US" sz="1200" i="1">
                              <a:latin typeface="Cambria Math" panose="02040503050406030204" pitchFamily="18" charset="0"/>
                            </a:rPr>
                            <m:t>(100</m:t>
                          </m:r>
                          <m:r>
                            <a:rPr lang="en-US" sz="1200" i="1">
                              <a:latin typeface="Cambria Math" panose="02040503050406030204" pitchFamily="18" charset="0"/>
                            </a:rPr>
                            <m:t>𝜇</m:t>
                          </m:r>
                          <m:r>
                            <a:rPr lang="en-US" sz="1200" i="1">
                              <a:latin typeface="Cambria Math" panose="02040503050406030204" pitchFamily="18" charset="0"/>
                            </a:rPr>
                            <m:t>𝐹</m:t>
                          </m:r>
                          <m:r>
                            <a:rPr lang="en-US" sz="1200" i="1">
                              <a:latin typeface="Cambria Math" panose="02040503050406030204" pitchFamily="18" charset="0"/>
                            </a:rPr>
                            <m:t>)</m:t>
                          </m:r>
                        </m:den>
                      </m:f>
                      <m:r>
                        <a:rPr lang="en-US" sz="1200" b="0" i="1" smtClean="0">
                          <a:latin typeface="Cambria Math" panose="02040503050406030204" pitchFamily="18" charset="0"/>
                        </a:rPr>
                        <m:t>=170.542 </m:t>
                      </m:r>
                      <m:r>
                        <a:rPr lang="en-US" sz="1200" b="0" i="1" smtClean="0">
                          <a:latin typeface="Cambria Math" panose="02040503050406030204" pitchFamily="18" charset="0"/>
                        </a:rPr>
                        <m:t>𝑉</m:t>
                      </m:r>
                    </m:oMath>
                  </m:oMathPara>
                </a14:m>
                <a:endParaRPr lang="en-US" sz="1200" dirty="0"/>
              </a:p>
              <a:p>
                <a:r>
                  <a:rPr lang="en-US" sz="1200" dirty="0"/>
                  <a:t>This is close to the 170 V grid voltage magnitude with a small difference, which is what we want.</a:t>
                </a:r>
              </a:p>
              <a:p>
                <a:endParaRPr lang="en-US" sz="1200" dirty="0"/>
              </a:p>
              <a:p>
                <a:r>
                  <a:rPr lang="en-US" sz="1200" dirty="0">
                    <a:solidFill>
                      <a:srgbClr val="FF0000"/>
                    </a:solidFill>
                  </a:rPr>
                  <a:t>Thus, the problem is not in the equations themselves, but likely in the controller.</a:t>
                </a:r>
              </a:p>
            </p:txBody>
          </p:sp>
        </mc:Choice>
        <mc:Fallback>
          <p:sp>
            <p:nvSpPr>
              <p:cNvPr id="28" name="TextBox 27">
                <a:extLst>
                  <a:ext uri="{FF2B5EF4-FFF2-40B4-BE49-F238E27FC236}">
                    <a16:creationId xmlns:a16="http://schemas.microsoft.com/office/drawing/2014/main" id="{12C99452-F264-1D65-4072-6A0546135F31}"/>
                  </a:ext>
                </a:extLst>
              </p:cNvPr>
              <p:cNvSpPr txBox="1">
                <a:spLocks noRot="1" noChangeAspect="1" noMove="1" noResize="1" noEditPoints="1" noAdjustHandles="1" noChangeArrowheads="1" noChangeShapeType="1" noTextEdit="1"/>
              </p:cNvSpPr>
              <p:nvPr/>
            </p:nvSpPr>
            <p:spPr>
              <a:xfrm>
                <a:off x="488949" y="3539546"/>
                <a:ext cx="7165615" cy="2932406"/>
              </a:xfrm>
              <a:prstGeom prst="rect">
                <a:avLst/>
              </a:prstGeom>
              <a:blipFill>
                <a:blip r:embed="rId2"/>
                <a:stretch>
                  <a:fillRect b="-431"/>
                </a:stretch>
              </a:blipFill>
            </p:spPr>
            <p:txBody>
              <a:bodyPr/>
              <a:lstStyle/>
              <a:p>
                <a:r>
                  <a:rPr lang="en-US">
                    <a:noFill/>
                  </a:rPr>
                  <a:t> </a:t>
                </a:r>
              </a:p>
            </p:txBody>
          </p:sp>
        </mc:Fallback>
      </mc:AlternateContent>
      <p:pic>
        <p:nvPicPr>
          <p:cNvPr id="2" name="Picture 1">
            <a:extLst>
              <a:ext uri="{FF2B5EF4-FFF2-40B4-BE49-F238E27FC236}">
                <a16:creationId xmlns:a16="http://schemas.microsoft.com/office/drawing/2014/main" id="{1213AA30-007D-16A3-AD8B-72D688F378CD}"/>
              </a:ext>
            </a:extLst>
          </p:cNvPr>
          <p:cNvPicPr>
            <a:picLocks noChangeAspect="1"/>
          </p:cNvPicPr>
          <p:nvPr/>
        </p:nvPicPr>
        <p:blipFill>
          <a:blip r:embed="rId3"/>
          <a:stretch>
            <a:fillRect/>
          </a:stretch>
        </p:blipFill>
        <p:spPr>
          <a:xfrm>
            <a:off x="7654564" y="3318454"/>
            <a:ext cx="4537436" cy="3569895"/>
          </a:xfrm>
          <a:prstGeom prst="rect">
            <a:avLst/>
          </a:prstGeom>
        </p:spPr>
      </p:pic>
    </p:spTree>
    <p:extLst>
      <p:ext uri="{BB962C8B-B14F-4D97-AF65-F5344CB8AC3E}">
        <p14:creationId xmlns:p14="http://schemas.microsoft.com/office/powerpoint/2010/main" val="15263622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B40DA-CCA0-AA03-C299-FC9ACF16EAD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E1A8107-4B5F-EE8E-87CC-21DD6155EE0A}"/>
                  </a:ext>
                </a:extLst>
              </p:cNvPr>
              <p:cNvSpPr txBox="1"/>
              <p:nvPr/>
            </p:nvSpPr>
            <p:spPr>
              <a:xfrm>
                <a:off x="609599" y="133604"/>
                <a:ext cx="7228517" cy="584775"/>
              </a:xfrm>
              <a:prstGeom prst="rect">
                <a:avLst/>
              </a:prstGeom>
              <a:noFill/>
            </p:spPr>
            <p:txBody>
              <a:bodyPr wrap="none" rtlCol="0">
                <a:spAutoFit/>
              </a:bodyPr>
              <a:lstStyle/>
              <a:p>
                <a:r>
                  <a:rPr lang="en-US" sz="3200" dirty="0"/>
                  <a:t>Rectifier – without separation of </a:t>
                </a:r>
                <a14:m>
                  <m:oMath xmlns:m="http://schemas.openxmlformats.org/officeDocument/2006/math">
                    <m:r>
                      <a:rPr lang="en-US" sz="3200" b="0" i="1" smtClean="0">
                        <a:latin typeface="Cambria Math" panose="02040503050406030204" pitchFamily="18" charset="0"/>
                      </a:rPr>
                      <m:t>𝜙</m:t>
                    </m:r>
                  </m:oMath>
                </a14:m>
                <a:r>
                  <a:rPr lang="en-US" sz="3200" dirty="0"/>
                  <a:t> and </a:t>
                </a:r>
                <a14:m>
                  <m:oMath xmlns:m="http://schemas.openxmlformats.org/officeDocument/2006/math">
                    <m:r>
                      <a:rPr lang="en-US" sz="3200" b="0" i="1" smtClean="0">
                        <a:latin typeface="Cambria Math" panose="02040503050406030204" pitchFamily="18" charset="0"/>
                      </a:rPr>
                      <m:t>𝜃</m:t>
                    </m:r>
                  </m:oMath>
                </a14:m>
                <a:endParaRPr lang="en-US" sz="3200" dirty="0"/>
              </a:p>
            </p:txBody>
          </p:sp>
        </mc:Choice>
        <mc:Fallback xmlns="">
          <p:sp>
            <p:nvSpPr>
              <p:cNvPr id="9" name="TextBox 8">
                <a:extLst>
                  <a:ext uri="{FF2B5EF4-FFF2-40B4-BE49-F238E27FC236}">
                    <a16:creationId xmlns:a16="http://schemas.microsoft.com/office/drawing/2014/main" id="{DE1A8107-4B5F-EE8E-87CC-21DD6155EE0A}"/>
                  </a:ext>
                </a:extLst>
              </p:cNvPr>
              <p:cNvSpPr txBox="1">
                <a:spLocks noRot="1" noChangeAspect="1" noMove="1" noResize="1" noEditPoints="1" noAdjustHandles="1" noChangeArrowheads="1" noChangeShapeType="1" noTextEdit="1"/>
              </p:cNvSpPr>
              <p:nvPr/>
            </p:nvSpPr>
            <p:spPr>
              <a:xfrm>
                <a:off x="609599" y="133604"/>
                <a:ext cx="7228517" cy="584775"/>
              </a:xfrm>
              <a:prstGeom prst="rect">
                <a:avLst/>
              </a:prstGeom>
              <a:blipFill>
                <a:blip r:embed="rId2"/>
                <a:stretch>
                  <a:fillRect l="-2108" t="-12500" b="-343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DCC7E8B-3CDC-C8EA-6878-0B5194980EFB}"/>
                  </a:ext>
                </a:extLst>
              </p:cNvPr>
              <p:cNvSpPr txBox="1"/>
              <p:nvPr/>
            </p:nvSpPr>
            <p:spPr>
              <a:xfrm>
                <a:off x="730378" y="718379"/>
                <a:ext cx="11309222" cy="1569660"/>
              </a:xfrm>
              <a:prstGeom prst="rect">
                <a:avLst/>
              </a:prstGeom>
              <a:noFill/>
            </p:spPr>
            <p:txBody>
              <a:bodyPr wrap="square" rtlCol="0">
                <a:spAutoFit/>
              </a:bodyPr>
              <a:lstStyle/>
              <a:p>
                <a:r>
                  <a:rPr lang="en-US" sz="1200" dirty="0"/>
                  <a:t>In this version, the plant </a:t>
                </a:r>
                <a:r>
                  <a:rPr lang="en-US" sz="1200" dirty="0" err="1"/>
                  <a:t>dq</a:t>
                </a:r>
                <a:r>
                  <a:rPr lang="en-US" sz="1200" dirty="0"/>
                  <a:t>-quantities are calculated using the </a:t>
                </a:r>
                <a14:m>
                  <m:oMath xmlns:m="http://schemas.openxmlformats.org/officeDocument/2006/math">
                    <m:r>
                      <a:rPr lang="en-US" sz="1200" i="1">
                        <a:latin typeface="Cambria Math" panose="02040503050406030204" pitchFamily="18" charset="0"/>
                      </a:rPr>
                      <m:t>𝜃</m:t>
                    </m:r>
                  </m:oMath>
                </a14:m>
                <a:r>
                  <a:rPr lang="en-US" sz="1200" dirty="0"/>
                  <a:t> estimated by the PLL. </a:t>
                </a:r>
              </a:p>
              <a:p>
                <a:pPr marL="171450" indent="-171450">
                  <a:buFont typeface="Arial" panose="020B0604020202020204" pitchFamily="34" charset="0"/>
                  <a:buChar char="•"/>
                </a:pPr>
                <a:r>
                  <a:rPr lang="en-US" sz="1200" dirty="0"/>
                  <a:t>the resulting control waveforms did not get inverted to agree with the PLECS/</a:t>
                </a:r>
                <a:r>
                  <a:rPr lang="en-US" sz="1200" dirty="0" err="1"/>
                  <a:t>PSCAd</a:t>
                </a:r>
                <a:r>
                  <a:rPr lang="en-US" sz="1200" dirty="0"/>
                  <a:t> waveforms.</a:t>
                </a:r>
              </a:p>
              <a:p>
                <a:pPr marL="171450" indent="-171450">
                  <a:buFont typeface="Arial" panose="020B0604020202020204" pitchFamily="34" charset="0"/>
                  <a:buChar char="•"/>
                </a:pPr>
                <a:r>
                  <a:rPr lang="en-US" sz="1200" dirty="0"/>
                  <a:t>The timestep had to be two degrees of magnitude smaller than in the case of separation of phi and theta in order to arrive at the same, smoother waveforms.</a:t>
                </a:r>
              </a:p>
              <a:p>
                <a:pPr marL="171450" indent="-171450">
                  <a:buFont typeface="Arial" panose="020B0604020202020204" pitchFamily="34" charset="0"/>
                  <a:buChar char="•"/>
                </a:pPr>
                <a:endParaRPr lang="en-US" sz="1200" dirty="0"/>
              </a:p>
              <a:p>
                <a:r>
                  <a:rPr lang="en-US" sz="1200" dirty="0">
                    <a:solidFill>
                      <a:srgbClr val="FF0000"/>
                    </a:solidFill>
                  </a:rPr>
                  <a:t>In conclusion, the separation of phi and theta is NOT the better path to go.</a:t>
                </a:r>
              </a:p>
              <a:p>
                <a:endParaRPr lang="en-US" sz="1200" dirty="0">
                  <a:solidFill>
                    <a:srgbClr val="FF0000"/>
                  </a:solidFill>
                </a:endParaRPr>
              </a:p>
              <a:p>
                <a:r>
                  <a:rPr lang="en-US" sz="1200" dirty="0">
                    <a:solidFill>
                      <a:srgbClr val="FF0000"/>
                    </a:solidFill>
                  </a:rPr>
                  <a:t>The problem is also NOT whether the transformation is sine-aligned or cosine-aligned. Simulation uses cosine-aligned, which the original set of equations are based on. When I changed it to sine-aligned, the responses went unstable.</a:t>
                </a:r>
              </a:p>
            </p:txBody>
          </p:sp>
        </mc:Choice>
        <mc:Fallback xmlns="">
          <p:sp>
            <p:nvSpPr>
              <p:cNvPr id="3" name="TextBox 2">
                <a:extLst>
                  <a:ext uri="{FF2B5EF4-FFF2-40B4-BE49-F238E27FC236}">
                    <a16:creationId xmlns:a16="http://schemas.microsoft.com/office/drawing/2014/main" id="{2DCC7E8B-3CDC-C8EA-6878-0B5194980EFB}"/>
                  </a:ext>
                </a:extLst>
              </p:cNvPr>
              <p:cNvSpPr txBox="1">
                <a:spLocks noRot="1" noChangeAspect="1" noMove="1" noResize="1" noEditPoints="1" noAdjustHandles="1" noChangeArrowheads="1" noChangeShapeType="1" noTextEdit="1"/>
              </p:cNvSpPr>
              <p:nvPr/>
            </p:nvSpPr>
            <p:spPr>
              <a:xfrm>
                <a:off x="730378" y="718379"/>
                <a:ext cx="11309222" cy="1569660"/>
              </a:xfrm>
              <a:prstGeom prst="rect">
                <a:avLst/>
              </a:prstGeom>
              <a:blipFill>
                <a:blip r:embed="rId3"/>
                <a:stretch>
                  <a:fillRect l="-54" t="-389" b="-2335"/>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91FEE46E-01ED-E962-AE06-090681F61DEF}"/>
              </a:ext>
            </a:extLst>
          </p:cNvPr>
          <p:cNvSpPr txBox="1"/>
          <p:nvPr/>
        </p:nvSpPr>
        <p:spPr>
          <a:xfrm>
            <a:off x="730378" y="3042138"/>
            <a:ext cx="3060700" cy="2677656"/>
          </a:xfrm>
          <a:prstGeom prst="rect">
            <a:avLst/>
          </a:prstGeom>
          <a:noFill/>
        </p:spPr>
        <p:txBody>
          <a:bodyPr wrap="square" rtlCol="0">
            <a:spAutoFit/>
          </a:bodyPr>
          <a:lstStyle/>
          <a:p>
            <a:r>
              <a:rPr lang="en-US" sz="1200" dirty="0"/>
              <a:t>In troubleshooting though, I observed that the </a:t>
            </a:r>
            <a:r>
              <a:rPr lang="en-US" sz="1200" dirty="0" err="1"/>
              <a:t>the</a:t>
            </a:r>
            <a:r>
              <a:rPr lang="en-US" sz="1200" dirty="0"/>
              <a:t> phase shifts between the grid-side states do not agree between simulations and the script. </a:t>
            </a:r>
          </a:p>
          <a:p>
            <a:endParaRPr lang="en-US" sz="1200" dirty="0"/>
          </a:p>
          <a:p>
            <a:r>
              <a:rPr lang="en-US" sz="1200" dirty="0"/>
              <a:t>Supposedly, the grid-side current and voltage are about 180 degrees out of phase, and while the convert-side current is leading the capacitor voltage.</a:t>
            </a:r>
          </a:p>
          <a:p>
            <a:endParaRPr lang="en-US" sz="1200" dirty="0"/>
          </a:p>
          <a:p>
            <a:r>
              <a:rPr lang="en-US" sz="1200" dirty="0"/>
              <a:t>In the script, the grid-side current is lagging the grid-side voltage, while the converter-side current is about 180 degrees out of phase with the capacitor voltage. </a:t>
            </a:r>
          </a:p>
        </p:txBody>
      </p:sp>
      <p:grpSp>
        <p:nvGrpSpPr>
          <p:cNvPr id="23" name="Group 22">
            <a:extLst>
              <a:ext uri="{FF2B5EF4-FFF2-40B4-BE49-F238E27FC236}">
                <a16:creationId xmlns:a16="http://schemas.microsoft.com/office/drawing/2014/main" id="{DF63912C-3294-7906-6488-44A92ACED7B5}"/>
              </a:ext>
            </a:extLst>
          </p:cNvPr>
          <p:cNvGrpSpPr/>
          <p:nvPr/>
        </p:nvGrpSpPr>
        <p:grpSpPr>
          <a:xfrm>
            <a:off x="4163126" y="2720056"/>
            <a:ext cx="8028873" cy="3916821"/>
            <a:chOff x="3835400" y="2560178"/>
            <a:chExt cx="8356600" cy="4076700"/>
          </a:xfrm>
        </p:grpSpPr>
        <p:pic>
          <p:nvPicPr>
            <p:cNvPr id="12" name="Picture 11">
              <a:extLst>
                <a:ext uri="{FF2B5EF4-FFF2-40B4-BE49-F238E27FC236}">
                  <a16:creationId xmlns:a16="http://schemas.microsoft.com/office/drawing/2014/main" id="{440739B2-A37D-DFBB-26A3-90D3ED612AD8}"/>
                </a:ext>
              </a:extLst>
            </p:cNvPr>
            <p:cNvPicPr>
              <a:picLocks noChangeAspect="1"/>
            </p:cNvPicPr>
            <p:nvPr/>
          </p:nvPicPr>
          <p:blipFill>
            <a:blip r:embed="rId4"/>
            <a:stretch>
              <a:fillRect/>
            </a:stretch>
          </p:blipFill>
          <p:spPr>
            <a:xfrm>
              <a:off x="8685238" y="2720057"/>
              <a:ext cx="3506762" cy="3756943"/>
            </a:xfrm>
            <a:prstGeom prst="rect">
              <a:avLst/>
            </a:prstGeom>
          </p:spPr>
        </p:pic>
        <p:pic>
          <p:nvPicPr>
            <p:cNvPr id="20" name="Picture 19">
              <a:extLst>
                <a:ext uri="{FF2B5EF4-FFF2-40B4-BE49-F238E27FC236}">
                  <a16:creationId xmlns:a16="http://schemas.microsoft.com/office/drawing/2014/main" id="{9510EF19-0936-4355-83D6-67AE9F0184B2}"/>
                </a:ext>
              </a:extLst>
            </p:cNvPr>
            <p:cNvPicPr>
              <a:picLocks noChangeAspect="1"/>
            </p:cNvPicPr>
            <p:nvPr/>
          </p:nvPicPr>
          <p:blipFill>
            <a:blip r:embed="rId5"/>
            <a:stretch>
              <a:fillRect/>
            </a:stretch>
          </p:blipFill>
          <p:spPr>
            <a:xfrm>
              <a:off x="3835400" y="2560178"/>
              <a:ext cx="5181600" cy="4076700"/>
            </a:xfrm>
            <a:prstGeom prst="rect">
              <a:avLst/>
            </a:prstGeom>
          </p:spPr>
        </p:pic>
      </p:gr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3358A536-E7DF-1068-B7FB-7E399ABA1EAD}"/>
                  </a:ext>
                </a:extLst>
              </p:cNvPr>
              <p:cNvSpPr txBox="1"/>
              <p:nvPr/>
            </p:nvSpPr>
            <p:spPr>
              <a:xfrm>
                <a:off x="609599" y="2288039"/>
                <a:ext cx="7274620" cy="584775"/>
              </a:xfrm>
              <a:prstGeom prst="rect">
                <a:avLst/>
              </a:prstGeom>
              <a:noFill/>
            </p:spPr>
            <p:txBody>
              <a:bodyPr wrap="none" rtlCol="0">
                <a:spAutoFit/>
              </a:bodyPr>
              <a:lstStyle/>
              <a:p>
                <a:r>
                  <a:rPr lang="en-US" sz="3200" dirty="0"/>
                  <a:t>Rectifier – back to separation of </a:t>
                </a:r>
                <a14:m>
                  <m:oMath xmlns:m="http://schemas.openxmlformats.org/officeDocument/2006/math">
                    <m:r>
                      <a:rPr lang="en-US" sz="3200" i="1">
                        <a:latin typeface="Cambria Math" panose="02040503050406030204" pitchFamily="18" charset="0"/>
                      </a:rPr>
                      <m:t>𝜙</m:t>
                    </m:r>
                  </m:oMath>
                </a14:m>
                <a:r>
                  <a:rPr lang="en-US" sz="3200" dirty="0"/>
                  <a:t> and </a:t>
                </a:r>
                <a14:m>
                  <m:oMath xmlns:m="http://schemas.openxmlformats.org/officeDocument/2006/math">
                    <m:r>
                      <a:rPr lang="en-US" sz="3200" i="1">
                        <a:latin typeface="Cambria Math" panose="02040503050406030204" pitchFamily="18" charset="0"/>
                      </a:rPr>
                      <m:t>𝜃</m:t>
                    </m:r>
                  </m:oMath>
                </a14:m>
                <a:r>
                  <a:rPr lang="en-US" sz="3200" dirty="0"/>
                  <a:t> </a:t>
                </a:r>
              </a:p>
            </p:txBody>
          </p:sp>
        </mc:Choice>
        <mc:Fallback xmlns="">
          <p:sp>
            <p:nvSpPr>
              <p:cNvPr id="22" name="TextBox 21">
                <a:extLst>
                  <a:ext uri="{FF2B5EF4-FFF2-40B4-BE49-F238E27FC236}">
                    <a16:creationId xmlns:a16="http://schemas.microsoft.com/office/drawing/2014/main" id="{3358A536-E7DF-1068-B7FB-7E399ABA1EAD}"/>
                  </a:ext>
                </a:extLst>
              </p:cNvPr>
              <p:cNvSpPr txBox="1">
                <a:spLocks noRot="1" noChangeAspect="1" noMove="1" noResize="1" noEditPoints="1" noAdjustHandles="1" noChangeArrowheads="1" noChangeShapeType="1" noTextEdit="1"/>
              </p:cNvSpPr>
              <p:nvPr/>
            </p:nvSpPr>
            <p:spPr>
              <a:xfrm>
                <a:off x="609599" y="2288039"/>
                <a:ext cx="7274620" cy="584775"/>
              </a:xfrm>
              <a:prstGeom prst="rect">
                <a:avLst/>
              </a:prstGeom>
              <a:blipFill>
                <a:blip r:embed="rId6"/>
                <a:stretch>
                  <a:fillRect l="-2096" t="-12500" b="-34375"/>
                </a:stretch>
              </a:blipFill>
            </p:spPr>
            <p:txBody>
              <a:bodyPr/>
              <a:lstStyle/>
              <a:p>
                <a:r>
                  <a:rPr lang="en-US">
                    <a:noFill/>
                  </a:rPr>
                  <a:t> </a:t>
                </a:r>
              </a:p>
            </p:txBody>
          </p:sp>
        </mc:Fallback>
      </mc:AlternateContent>
    </p:spTree>
    <p:extLst>
      <p:ext uri="{BB962C8B-B14F-4D97-AF65-F5344CB8AC3E}">
        <p14:creationId xmlns:p14="http://schemas.microsoft.com/office/powerpoint/2010/main" val="5211443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536EE7-E2F9-6985-9F18-1D6C414DA201}"/>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CB5EF31-B3F7-7B20-82DE-65078035DCB6}"/>
              </a:ext>
            </a:extLst>
          </p:cNvPr>
          <p:cNvSpPr txBox="1"/>
          <p:nvPr/>
        </p:nvSpPr>
        <p:spPr>
          <a:xfrm>
            <a:off x="609600" y="245950"/>
            <a:ext cx="3704027" cy="584775"/>
          </a:xfrm>
          <a:prstGeom prst="rect">
            <a:avLst/>
          </a:prstGeom>
          <a:noFill/>
        </p:spPr>
        <p:txBody>
          <a:bodyPr wrap="none" rtlCol="0">
            <a:spAutoFit/>
          </a:bodyPr>
          <a:lstStyle/>
          <a:p>
            <a:r>
              <a:rPr lang="en-US" sz="3200" dirty="0"/>
              <a:t>Rectifier - controller</a:t>
            </a:r>
          </a:p>
        </p:txBody>
      </p:sp>
      <p:grpSp>
        <p:nvGrpSpPr>
          <p:cNvPr id="22" name="Group 21">
            <a:extLst>
              <a:ext uri="{FF2B5EF4-FFF2-40B4-BE49-F238E27FC236}">
                <a16:creationId xmlns:a16="http://schemas.microsoft.com/office/drawing/2014/main" id="{9ABF9DBD-D704-5D94-FF84-A7FC50A6DB5C}"/>
              </a:ext>
            </a:extLst>
          </p:cNvPr>
          <p:cNvGrpSpPr/>
          <p:nvPr/>
        </p:nvGrpSpPr>
        <p:grpSpPr>
          <a:xfrm>
            <a:off x="1440040" y="2985160"/>
            <a:ext cx="2801061" cy="3703240"/>
            <a:chOff x="411735" y="2345841"/>
            <a:chExt cx="3273717" cy="4378882"/>
          </a:xfrm>
        </p:grpSpPr>
        <p:pic>
          <p:nvPicPr>
            <p:cNvPr id="7" name="Picture 6">
              <a:extLst>
                <a:ext uri="{FF2B5EF4-FFF2-40B4-BE49-F238E27FC236}">
                  <a16:creationId xmlns:a16="http://schemas.microsoft.com/office/drawing/2014/main" id="{729E2B68-413A-5FA2-E393-2DE173CEC16D}"/>
                </a:ext>
              </a:extLst>
            </p:cNvPr>
            <p:cNvPicPr>
              <a:picLocks noChangeAspect="1"/>
            </p:cNvPicPr>
            <p:nvPr/>
          </p:nvPicPr>
          <p:blipFill>
            <a:blip r:embed="rId2"/>
            <a:stretch>
              <a:fillRect/>
            </a:stretch>
          </p:blipFill>
          <p:spPr>
            <a:xfrm>
              <a:off x="411735" y="2345841"/>
              <a:ext cx="3098830" cy="2328310"/>
            </a:xfrm>
            <a:prstGeom prst="rect">
              <a:avLst/>
            </a:prstGeom>
          </p:spPr>
        </p:pic>
        <p:pic>
          <p:nvPicPr>
            <p:cNvPr id="16" name="Picture 15">
              <a:extLst>
                <a:ext uri="{FF2B5EF4-FFF2-40B4-BE49-F238E27FC236}">
                  <a16:creationId xmlns:a16="http://schemas.microsoft.com/office/drawing/2014/main" id="{07B62F94-7ED3-3688-2255-CB99AC724A8B}"/>
                </a:ext>
              </a:extLst>
            </p:cNvPr>
            <p:cNvPicPr>
              <a:picLocks noChangeAspect="1"/>
            </p:cNvPicPr>
            <p:nvPr/>
          </p:nvPicPr>
          <p:blipFill>
            <a:blip r:embed="rId3"/>
            <a:stretch>
              <a:fillRect/>
            </a:stretch>
          </p:blipFill>
          <p:spPr>
            <a:xfrm>
              <a:off x="411735" y="4753637"/>
              <a:ext cx="3273717" cy="1971086"/>
            </a:xfrm>
            <a:prstGeom prst="rect">
              <a:avLst/>
            </a:prstGeom>
          </p:spPr>
        </p:pic>
      </p:grpSp>
      <p:sp>
        <p:nvSpPr>
          <p:cNvPr id="21" name="TextBox 20">
            <a:extLst>
              <a:ext uri="{FF2B5EF4-FFF2-40B4-BE49-F238E27FC236}">
                <a16:creationId xmlns:a16="http://schemas.microsoft.com/office/drawing/2014/main" id="{49A0BA28-7D59-877D-55EE-F9E9DB68F13E}"/>
              </a:ext>
            </a:extLst>
          </p:cNvPr>
          <p:cNvSpPr txBox="1"/>
          <p:nvPr/>
        </p:nvSpPr>
        <p:spPr>
          <a:xfrm>
            <a:off x="537074" y="830725"/>
            <a:ext cx="3704027" cy="1569660"/>
          </a:xfrm>
          <a:prstGeom prst="rect">
            <a:avLst/>
          </a:prstGeom>
          <a:noFill/>
        </p:spPr>
        <p:txBody>
          <a:bodyPr wrap="square" rtlCol="0">
            <a:spAutoFit/>
          </a:bodyPr>
          <a:lstStyle/>
          <a:p>
            <a:r>
              <a:rPr lang="en-US" sz="1200" dirty="0"/>
              <a:t>While the DC output settled around the setpoint and the grid-side current and voltage look fine @ MATLAB script, there must be something wrong in the controller, likely in the transformations. This is marked by the reflection of MATLAB script waveforms along the horizontal axis around their respective setpoints, and of the jittery PLL frequency even when dt=1us in the script.</a:t>
            </a:r>
          </a:p>
        </p:txBody>
      </p:sp>
      <p:pic>
        <p:nvPicPr>
          <p:cNvPr id="28" name="Picture 27">
            <a:extLst>
              <a:ext uri="{FF2B5EF4-FFF2-40B4-BE49-F238E27FC236}">
                <a16:creationId xmlns:a16="http://schemas.microsoft.com/office/drawing/2014/main" id="{A5A33D0A-16DC-19E6-FC32-F34288411BC5}"/>
              </a:ext>
            </a:extLst>
          </p:cNvPr>
          <p:cNvPicPr>
            <a:picLocks noChangeAspect="1"/>
          </p:cNvPicPr>
          <p:nvPr/>
        </p:nvPicPr>
        <p:blipFill>
          <a:blip r:embed="rId4"/>
          <a:stretch>
            <a:fillRect/>
          </a:stretch>
        </p:blipFill>
        <p:spPr>
          <a:xfrm>
            <a:off x="8767362" y="972740"/>
            <a:ext cx="3340132" cy="5723056"/>
          </a:xfrm>
          <a:prstGeom prst="rect">
            <a:avLst/>
          </a:prstGeom>
        </p:spPr>
      </p:pic>
      <p:pic>
        <p:nvPicPr>
          <p:cNvPr id="30" name="Picture 29">
            <a:extLst>
              <a:ext uri="{FF2B5EF4-FFF2-40B4-BE49-F238E27FC236}">
                <a16:creationId xmlns:a16="http://schemas.microsoft.com/office/drawing/2014/main" id="{D4EA9828-912C-E5C5-7CA8-734559150072}"/>
              </a:ext>
            </a:extLst>
          </p:cNvPr>
          <p:cNvPicPr>
            <a:picLocks noChangeAspect="1"/>
          </p:cNvPicPr>
          <p:nvPr/>
        </p:nvPicPr>
        <p:blipFill>
          <a:blip r:embed="rId5"/>
          <a:stretch>
            <a:fillRect/>
          </a:stretch>
        </p:blipFill>
        <p:spPr>
          <a:xfrm>
            <a:off x="4382687" y="1219345"/>
            <a:ext cx="4295775" cy="1581150"/>
          </a:xfrm>
          <a:prstGeom prst="rect">
            <a:avLst/>
          </a:prstGeom>
        </p:spPr>
      </p:pic>
      <p:pic>
        <p:nvPicPr>
          <p:cNvPr id="32" name="Picture 31">
            <a:extLst>
              <a:ext uri="{FF2B5EF4-FFF2-40B4-BE49-F238E27FC236}">
                <a16:creationId xmlns:a16="http://schemas.microsoft.com/office/drawing/2014/main" id="{C4437D7B-C3B6-71C0-77DC-58F0F09124DC}"/>
              </a:ext>
            </a:extLst>
          </p:cNvPr>
          <p:cNvPicPr>
            <a:picLocks noChangeAspect="1"/>
          </p:cNvPicPr>
          <p:nvPr/>
        </p:nvPicPr>
        <p:blipFill>
          <a:blip r:embed="rId6"/>
          <a:stretch>
            <a:fillRect/>
          </a:stretch>
        </p:blipFill>
        <p:spPr>
          <a:xfrm>
            <a:off x="4382686" y="2992556"/>
            <a:ext cx="4295775" cy="1571625"/>
          </a:xfrm>
          <a:prstGeom prst="rect">
            <a:avLst/>
          </a:prstGeom>
        </p:spPr>
      </p:pic>
      <p:pic>
        <p:nvPicPr>
          <p:cNvPr id="34" name="Picture 33">
            <a:extLst>
              <a:ext uri="{FF2B5EF4-FFF2-40B4-BE49-F238E27FC236}">
                <a16:creationId xmlns:a16="http://schemas.microsoft.com/office/drawing/2014/main" id="{3EEF83D1-CB90-4488-FDD0-1C3EFE0ED5DF}"/>
              </a:ext>
            </a:extLst>
          </p:cNvPr>
          <p:cNvPicPr>
            <a:picLocks noChangeAspect="1"/>
          </p:cNvPicPr>
          <p:nvPr/>
        </p:nvPicPr>
        <p:blipFill>
          <a:blip r:embed="rId7"/>
          <a:stretch>
            <a:fillRect/>
          </a:stretch>
        </p:blipFill>
        <p:spPr>
          <a:xfrm>
            <a:off x="4382685" y="4852842"/>
            <a:ext cx="4295775" cy="1571625"/>
          </a:xfrm>
          <a:prstGeom prst="rect">
            <a:avLst/>
          </a:prstGeom>
        </p:spPr>
      </p:pic>
      <p:sp>
        <p:nvSpPr>
          <p:cNvPr id="36" name="TextBox 35">
            <a:extLst>
              <a:ext uri="{FF2B5EF4-FFF2-40B4-BE49-F238E27FC236}">
                <a16:creationId xmlns:a16="http://schemas.microsoft.com/office/drawing/2014/main" id="{D5A175CC-95AF-0381-DB47-5334C31A4B70}"/>
              </a:ext>
            </a:extLst>
          </p:cNvPr>
          <p:cNvSpPr txBox="1"/>
          <p:nvPr/>
        </p:nvSpPr>
        <p:spPr>
          <a:xfrm>
            <a:off x="5389990" y="746018"/>
            <a:ext cx="2120900" cy="369332"/>
          </a:xfrm>
          <a:prstGeom prst="rect">
            <a:avLst/>
          </a:prstGeom>
          <a:noFill/>
        </p:spPr>
        <p:txBody>
          <a:bodyPr wrap="square">
            <a:spAutoFit/>
          </a:bodyPr>
          <a:lstStyle/>
          <a:p>
            <a:r>
              <a:rPr lang="en-US" sz="1800" dirty="0"/>
              <a:t>PSCAD (dt = 30us) </a:t>
            </a:r>
            <a:endParaRPr lang="en-US" dirty="0"/>
          </a:p>
        </p:txBody>
      </p:sp>
    </p:spTree>
    <p:extLst>
      <p:ext uri="{BB962C8B-B14F-4D97-AF65-F5344CB8AC3E}">
        <p14:creationId xmlns:p14="http://schemas.microsoft.com/office/powerpoint/2010/main" val="2832702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B8ACBB2-7CEB-1E8A-941C-A13B235429A2}"/>
              </a:ext>
            </a:extLst>
          </p:cNvPr>
          <p:cNvSpPr txBox="1"/>
          <p:nvPr/>
        </p:nvSpPr>
        <p:spPr>
          <a:xfrm>
            <a:off x="442806" y="1230961"/>
            <a:ext cx="4129046" cy="1477328"/>
          </a:xfrm>
          <a:prstGeom prst="rect">
            <a:avLst/>
          </a:prstGeom>
          <a:noFill/>
        </p:spPr>
        <p:txBody>
          <a:bodyPr wrap="square" rtlCol="0">
            <a:spAutoFit/>
          </a:bodyPr>
          <a:lstStyle/>
          <a:p>
            <a:r>
              <a:rPr lang="en-US" dirty="0"/>
              <a:t>There are discrepancies between the MATLAB script (dt=1e-6s, max 1e-4s) and PLECS waveforms. PLECS and PSCAD (dt = 30us) waveforms are more similar to each other, but not exactly.</a:t>
            </a:r>
          </a:p>
        </p:txBody>
      </p:sp>
      <p:sp>
        <p:nvSpPr>
          <p:cNvPr id="6" name="TextBox 5">
            <a:extLst>
              <a:ext uri="{FF2B5EF4-FFF2-40B4-BE49-F238E27FC236}">
                <a16:creationId xmlns:a16="http://schemas.microsoft.com/office/drawing/2014/main" id="{9283E02B-4DC4-1D29-1B5D-44131CC599A5}"/>
              </a:ext>
            </a:extLst>
          </p:cNvPr>
          <p:cNvSpPr txBox="1"/>
          <p:nvPr/>
        </p:nvSpPr>
        <p:spPr>
          <a:xfrm>
            <a:off x="609600" y="245950"/>
            <a:ext cx="3518912" cy="584775"/>
          </a:xfrm>
          <a:prstGeom prst="rect">
            <a:avLst/>
          </a:prstGeom>
          <a:noFill/>
        </p:spPr>
        <p:txBody>
          <a:bodyPr wrap="none" rtlCol="0">
            <a:spAutoFit/>
          </a:bodyPr>
          <a:lstStyle/>
          <a:p>
            <a:r>
              <a:rPr lang="en-US" sz="3200" dirty="0"/>
              <a:t>Rectifier – grid side</a:t>
            </a:r>
          </a:p>
        </p:txBody>
      </p:sp>
      <p:grpSp>
        <p:nvGrpSpPr>
          <p:cNvPr id="22" name="Group 21">
            <a:extLst>
              <a:ext uri="{FF2B5EF4-FFF2-40B4-BE49-F238E27FC236}">
                <a16:creationId xmlns:a16="http://schemas.microsoft.com/office/drawing/2014/main" id="{B2DFD1F7-33CA-9CED-DA27-373B637802A6}"/>
              </a:ext>
            </a:extLst>
          </p:cNvPr>
          <p:cNvGrpSpPr/>
          <p:nvPr/>
        </p:nvGrpSpPr>
        <p:grpSpPr>
          <a:xfrm>
            <a:off x="4673599" y="1230961"/>
            <a:ext cx="7391402" cy="5283202"/>
            <a:chOff x="3581399" y="173090"/>
            <a:chExt cx="8610601" cy="6511819"/>
          </a:xfrm>
        </p:grpSpPr>
        <p:pic>
          <p:nvPicPr>
            <p:cNvPr id="12" name="Picture 11">
              <a:extLst>
                <a:ext uri="{FF2B5EF4-FFF2-40B4-BE49-F238E27FC236}">
                  <a16:creationId xmlns:a16="http://schemas.microsoft.com/office/drawing/2014/main" id="{2384AFFF-2F4E-306E-DA3B-EDDAFFEB9F02}"/>
                </a:ext>
              </a:extLst>
            </p:cNvPr>
            <p:cNvPicPr>
              <a:picLocks noChangeAspect="1"/>
            </p:cNvPicPr>
            <p:nvPr/>
          </p:nvPicPr>
          <p:blipFill>
            <a:blip r:embed="rId2"/>
            <a:stretch>
              <a:fillRect/>
            </a:stretch>
          </p:blipFill>
          <p:spPr>
            <a:xfrm>
              <a:off x="3581400" y="277921"/>
              <a:ext cx="4810125" cy="1266825"/>
            </a:xfrm>
            <a:prstGeom prst="rect">
              <a:avLst/>
            </a:prstGeom>
          </p:spPr>
        </p:pic>
        <p:pic>
          <p:nvPicPr>
            <p:cNvPr id="14" name="Picture 13">
              <a:extLst>
                <a:ext uri="{FF2B5EF4-FFF2-40B4-BE49-F238E27FC236}">
                  <a16:creationId xmlns:a16="http://schemas.microsoft.com/office/drawing/2014/main" id="{CD87CD11-5B95-CFC0-571F-54EEA8648211}"/>
                </a:ext>
              </a:extLst>
            </p:cNvPr>
            <p:cNvPicPr>
              <a:picLocks noChangeAspect="1"/>
            </p:cNvPicPr>
            <p:nvPr/>
          </p:nvPicPr>
          <p:blipFill>
            <a:blip r:embed="rId3"/>
            <a:stretch>
              <a:fillRect/>
            </a:stretch>
          </p:blipFill>
          <p:spPr>
            <a:xfrm>
              <a:off x="3581399" y="1869136"/>
              <a:ext cx="4810125" cy="1257300"/>
            </a:xfrm>
            <a:prstGeom prst="rect">
              <a:avLst/>
            </a:prstGeom>
          </p:spPr>
        </p:pic>
        <p:pic>
          <p:nvPicPr>
            <p:cNvPr id="21" name="Picture 20">
              <a:extLst>
                <a:ext uri="{FF2B5EF4-FFF2-40B4-BE49-F238E27FC236}">
                  <a16:creationId xmlns:a16="http://schemas.microsoft.com/office/drawing/2014/main" id="{91D3882A-5640-D48E-1866-0AAA071C814D}"/>
                </a:ext>
              </a:extLst>
            </p:cNvPr>
            <p:cNvPicPr>
              <a:picLocks noChangeAspect="1"/>
            </p:cNvPicPr>
            <p:nvPr/>
          </p:nvPicPr>
          <p:blipFill>
            <a:blip r:embed="rId4"/>
            <a:stretch>
              <a:fillRect/>
            </a:stretch>
          </p:blipFill>
          <p:spPr>
            <a:xfrm>
              <a:off x="8391525" y="173090"/>
              <a:ext cx="3800475" cy="6511819"/>
            </a:xfrm>
            <a:prstGeom prst="rect">
              <a:avLst/>
            </a:prstGeom>
          </p:spPr>
        </p:pic>
      </p:grpSp>
      <p:pic>
        <p:nvPicPr>
          <p:cNvPr id="24" name="Picture 23">
            <a:extLst>
              <a:ext uri="{FF2B5EF4-FFF2-40B4-BE49-F238E27FC236}">
                <a16:creationId xmlns:a16="http://schemas.microsoft.com/office/drawing/2014/main" id="{96A8E5D0-2A7A-5466-35E6-2B40925CF756}"/>
              </a:ext>
            </a:extLst>
          </p:cNvPr>
          <p:cNvPicPr>
            <a:picLocks noChangeAspect="1"/>
          </p:cNvPicPr>
          <p:nvPr/>
        </p:nvPicPr>
        <p:blipFill>
          <a:blip r:embed="rId5"/>
          <a:stretch>
            <a:fillRect/>
          </a:stretch>
        </p:blipFill>
        <p:spPr>
          <a:xfrm>
            <a:off x="4673599" y="3802840"/>
            <a:ext cx="4129046" cy="1422681"/>
          </a:xfrm>
          <a:prstGeom prst="rect">
            <a:avLst/>
          </a:prstGeom>
        </p:spPr>
      </p:pic>
      <p:pic>
        <p:nvPicPr>
          <p:cNvPr id="26" name="Picture 25">
            <a:extLst>
              <a:ext uri="{FF2B5EF4-FFF2-40B4-BE49-F238E27FC236}">
                <a16:creationId xmlns:a16="http://schemas.microsoft.com/office/drawing/2014/main" id="{18EEEA96-8EE9-DED7-0975-B824B410F07B}"/>
              </a:ext>
            </a:extLst>
          </p:cNvPr>
          <p:cNvPicPr>
            <a:picLocks noChangeAspect="1"/>
          </p:cNvPicPr>
          <p:nvPr/>
        </p:nvPicPr>
        <p:blipFill>
          <a:blip r:embed="rId6"/>
          <a:stretch>
            <a:fillRect/>
          </a:stretch>
        </p:blipFill>
        <p:spPr>
          <a:xfrm>
            <a:off x="4680699" y="5049671"/>
            <a:ext cx="4121946" cy="1420235"/>
          </a:xfrm>
          <a:prstGeom prst="rect">
            <a:avLst/>
          </a:prstGeom>
        </p:spPr>
      </p:pic>
    </p:spTree>
    <p:extLst>
      <p:ext uri="{BB962C8B-B14F-4D97-AF65-F5344CB8AC3E}">
        <p14:creationId xmlns:p14="http://schemas.microsoft.com/office/powerpoint/2010/main" val="964737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DC8AE-6FEA-5A15-3FF6-7D15CE0CED7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B3333D4-7077-8528-AAF2-8861DDD9686B}"/>
                  </a:ext>
                </a:extLst>
              </p:cNvPr>
              <p:cNvSpPr txBox="1"/>
              <p:nvPr/>
            </p:nvSpPr>
            <p:spPr>
              <a:xfrm>
                <a:off x="685015" y="890255"/>
                <a:ext cx="2412199" cy="4255973"/>
              </a:xfrm>
              <a:prstGeom prst="rect">
                <a:avLst/>
              </a:prstGeom>
              <a:noFill/>
            </p:spPr>
            <p:txBody>
              <a:bodyPr wrap="none" lIns="0" tIns="0" rIns="0" bIns="0" rtlCol="0">
                <a:spAutoFit/>
              </a:bodyPr>
              <a:lstStyle/>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𝛼</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𝑣</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𝛼</m:t>
                            </m:r>
                          </m:sub>
                        </m:sSub>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𝛽</m:t>
                        </m:r>
                      </m:sub>
                    </m:sSub>
                  </m:oMath>
                </a14:m>
                <a:endParaRPr lang="en-US" sz="120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𝛽</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𝛼</m:t>
                        </m:r>
                      </m:sub>
                    </m:sSub>
                  </m:oMath>
                </a14:m>
                <a:endParaRPr lang="en-US" sz="1200" b="0" dirty="0"/>
              </a:p>
              <a:p>
                <a:pPr marL="342900" indent="-342900">
                  <a:buFont typeface="+mj-lt"/>
                  <a:buAutoNum type="arabicPeriod"/>
                </a:pPr>
                <a14:m>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𝜃</m:t>
                        </m:r>
                      </m:e>
                    </m:acc>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1</m:t>
                        </m:r>
                      </m:sub>
                    </m:sSub>
                    <m:sSub>
                      <m:sSubPr>
                        <m:ctrlPr>
                          <a:rPr lang="en-US" sz="1200" b="0" i="1" smtClean="0">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𝑣</m:t>
                            </m:r>
                          </m:e>
                        </m:acc>
                      </m:e>
                      <m:sub>
                        <m:r>
                          <a:rPr lang="en-US" sz="1200" b="0" i="1" smtClean="0">
                            <a:latin typeface="Cambria Math" panose="02040503050406030204" pitchFamily="18" charset="0"/>
                          </a:rPr>
                          <m:t>𝑞</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2</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2</m:t>
                        </m:r>
                      </m:sub>
                    </m:sSub>
                  </m:oMath>
                </a14:m>
                <a:endParaRPr lang="en-US" sz="1200" b="0" dirty="0"/>
              </a:p>
              <a:p>
                <a:pPr marL="342900" indent="-342900">
                  <a:buFont typeface="+mj-lt"/>
                  <a:buAutoNum type="arabicPeriod"/>
                </a:pPr>
                <a:endParaRPr lang="en-US" sz="1200" b="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𝛼</m:t>
                            </m:r>
                          </m:sub>
                        </m:sSub>
                      </m:e>
                    </m:acc>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𝑘</m:t>
                        </m:r>
                      </m:e>
                      <m:sub>
                        <m:r>
                          <a:rPr lang="en-US" sz="1200" b="0" i="1" smtClean="0">
                            <a:latin typeface="Cambria Math" panose="02040503050406030204" pitchFamily="18" charset="0"/>
                          </a:rPr>
                          <m:t>𝑖</m:t>
                        </m:r>
                      </m:sub>
                    </m:sSub>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e>
                    </m:d>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𝛽</m:t>
                        </m:r>
                      </m:sub>
                    </m:sSub>
                  </m:oMath>
                </a14:m>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𝛽</m:t>
                            </m:r>
                          </m:sub>
                        </m:sSub>
                      </m:e>
                    </m:acc>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𝑒</m:t>
                            </m:r>
                          </m:e>
                        </m:acc>
                      </m:e>
                      <m:sub>
                        <m:r>
                          <a:rPr lang="en-US" sz="1200" b="0" i="1" smtClean="0">
                            <a:latin typeface="Cambria Math" panose="02040503050406030204" pitchFamily="18" charset="0"/>
                          </a:rPr>
                          <m:t>3</m:t>
                        </m:r>
                      </m:sub>
                    </m:sSub>
                    <m:r>
                      <a:rPr lang="en-US" sz="1200" b="0" i="1" smtClean="0">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oMath>
                </a14:m>
                <a:endParaRPr lang="en-US" sz="1200" b="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𝑒</m:t>
                            </m:r>
                          </m:e>
                        </m:acc>
                      </m:e>
                      <m:sub>
                        <m:r>
                          <a:rPr lang="en-US" sz="1200" b="0" i="1" smtClean="0">
                            <a:latin typeface="Cambria Math" panose="02040503050406030204" pitchFamily="18" charset="0"/>
                          </a:rPr>
                          <m:t>4</m:t>
                        </m:r>
                      </m:sub>
                    </m:sSub>
                    <m:r>
                      <a:rPr lang="en-US" sz="1200" i="1">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𝑖</m:t>
                        </m:r>
                      </m:e>
                      <m:sub>
                        <m:r>
                          <a:rPr lang="en-US" sz="1200" i="1">
                            <a:latin typeface="Cambria Math" panose="02040503050406030204" pitchFamily="18" charset="0"/>
                          </a:rPr>
                          <m:t>𝑑</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𝑑</m:t>
                        </m:r>
                      </m:sub>
                    </m:sSub>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𝑒</m:t>
                            </m:r>
                          </m:e>
                        </m:acc>
                      </m:e>
                      <m:sub>
                        <m:r>
                          <a:rPr lang="en-US" sz="1200" b="0" i="1" smtClean="0">
                            <a:latin typeface="Cambria Math" panose="02040503050406030204" pitchFamily="18" charset="0"/>
                          </a:rPr>
                          <m:t>5</m:t>
                        </m:r>
                      </m:sub>
                    </m:sSub>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𝑖</m:t>
                        </m:r>
                      </m:e>
                      <m:sub>
                        <m:r>
                          <a:rPr lang="en-US" sz="1200" b="0" i="1" smtClean="0">
                            <a:latin typeface="Cambria Math" panose="02040503050406030204" pitchFamily="18" charset="0"/>
                          </a:rPr>
                          <m:t>𝑞</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𝑞</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e>
                    </m:acc>
                    <m:r>
                      <a:rPr lang="en-US" sz="1200" b="0" i="1" smtClean="0">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𝐿</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num>
                      <m:den>
                        <m:r>
                          <a:rPr lang="en-US" sz="1200" b="0" i="1" smtClean="0">
                            <a:latin typeface="Cambria Math" panose="02040503050406030204" pitchFamily="18" charset="0"/>
                          </a:rPr>
                          <m:t>𝐿</m:t>
                        </m:r>
                      </m:den>
                    </m:f>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𝑞</m:t>
                        </m:r>
                      </m:sub>
                    </m:sSub>
                  </m:oMath>
                </a14:m>
                <a:endParaRPr lang="en-US" sz="1200" b="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𝑞</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𝐿</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𝑞</m:t>
                            </m:r>
                          </m:sub>
                        </m:sSub>
                      </m:num>
                      <m:den>
                        <m:r>
                          <a:rPr lang="en-US" sz="1200" i="1">
                            <a:latin typeface="Cambria Math" panose="02040503050406030204" pitchFamily="18" charset="0"/>
                          </a:rPr>
                          <m:t>𝐿</m:t>
                        </m:r>
                      </m:den>
                    </m:f>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𝑑</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e>
                    </m:acc>
                    <m:r>
                      <a:rPr lang="en-US" sz="1200" i="1">
                        <a:latin typeface="Cambria Math" panose="02040503050406030204" pitchFamily="18" charset="0"/>
                      </a:rPr>
                      <m:t>=</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num>
                      <m:den>
                        <m:r>
                          <a:rPr lang="en-US" sz="1200" b="0" i="1" smtClean="0">
                            <a:latin typeface="Cambria Math" panose="02040503050406030204" pitchFamily="18" charset="0"/>
                          </a:rPr>
                          <m:t>𝐶</m:t>
                        </m:r>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oMath>
                </a14:m>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𝑔</m:t>
                            </m:r>
                            <m:r>
                              <a:rPr lang="en-US" sz="1200" i="1">
                                <a:latin typeface="Cambria Math" panose="02040503050406030204" pitchFamily="18" charset="0"/>
                              </a:rPr>
                              <m:t>,</m:t>
                            </m:r>
                            <m:r>
                              <a:rPr lang="en-US" sz="1200" b="0" i="1" smtClean="0">
                                <a:latin typeface="Cambria Math" panose="02040503050406030204" pitchFamily="18" charset="0"/>
                              </a:rPr>
                              <m:t>𝑞</m:t>
                            </m:r>
                          </m:sub>
                        </m:sSub>
                      </m:num>
                      <m:den>
                        <m:r>
                          <a:rPr lang="en-US" sz="1200" b="0" i="1" smtClean="0">
                            <a:latin typeface="Cambria Math" panose="02040503050406030204" pitchFamily="18" charset="0"/>
                          </a:rPr>
                          <m:t>𝐶</m:t>
                        </m:r>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acc>
                      <m:accPr>
                        <m:chr m:val="̇"/>
                        <m:ctrlPr>
                          <a:rPr lang="en-US" sz="1200" i="1" smtClean="0">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𝑑𝑐</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𝑜</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𝑑𝑐</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𝐿</m:t>
                            </m:r>
                            <m:r>
                              <a:rPr lang="en-US" sz="1200" i="1">
                                <a:latin typeface="Cambria Math" panose="02040503050406030204" pitchFamily="18" charset="0"/>
                              </a:rPr>
                              <m:t>,</m:t>
                            </m:r>
                            <m:r>
                              <a:rPr lang="en-US" sz="1200" i="1">
                                <a:latin typeface="Cambria Math" panose="02040503050406030204" pitchFamily="18" charset="0"/>
                              </a:rPr>
                              <m:t>𝑑𝑐</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𝑑𝑐</m:t>
                            </m:r>
                          </m:sub>
                        </m:sSub>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𝐿</m:t>
                            </m:r>
                          </m:e>
                          <m:sub>
                            <m:r>
                              <a:rPr lang="en-US" sz="1200" b="0" i="1" smtClean="0">
                                <a:latin typeface="Cambria Math" panose="02040503050406030204" pitchFamily="18" charset="0"/>
                              </a:rPr>
                              <m:t>𝑑𝑐</m:t>
                            </m:r>
                          </m:sub>
                        </m:sSub>
                      </m:den>
                    </m:f>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𝑠ℎ</m:t>
                            </m:r>
                          </m:sub>
                        </m:sSub>
                        <m:d>
                          <m:dPr>
                            <m:ctrlPr>
                              <a:rPr lang="en-US" sz="1200" i="1">
                                <a:latin typeface="Cambria Math" panose="02040503050406030204" pitchFamily="18" charset="0"/>
                              </a:rPr>
                            </m:ctrlPr>
                          </m:dPr>
                          <m:e>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𝑑𝑐</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𝑏</m:t>
                                </m:r>
                              </m:sub>
                            </m:sSub>
                          </m:e>
                        </m:d>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𝑑𝑐</m:t>
                            </m:r>
                          </m:sub>
                        </m:sSub>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𝑠ℎ</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den>
                    </m:f>
                  </m:oMath>
                </a14:m>
                <a:endParaRPr lang="en-US" sz="1200" dirty="0"/>
              </a:p>
            </p:txBody>
          </p:sp>
        </mc:Choice>
        <mc:Fallback xmlns="">
          <p:sp>
            <p:nvSpPr>
              <p:cNvPr id="4" name="TextBox 3">
                <a:extLst>
                  <a:ext uri="{FF2B5EF4-FFF2-40B4-BE49-F238E27FC236}">
                    <a16:creationId xmlns:a16="http://schemas.microsoft.com/office/drawing/2014/main" id="{9B3333D4-7077-8528-AAF2-8861DDD9686B}"/>
                  </a:ext>
                </a:extLst>
              </p:cNvPr>
              <p:cNvSpPr txBox="1">
                <a:spLocks noRot="1" noChangeAspect="1" noMove="1" noResize="1" noEditPoints="1" noAdjustHandles="1" noChangeArrowheads="1" noChangeShapeType="1" noTextEdit="1"/>
              </p:cNvSpPr>
              <p:nvPr/>
            </p:nvSpPr>
            <p:spPr>
              <a:xfrm>
                <a:off x="685015" y="890255"/>
                <a:ext cx="2412199" cy="4255973"/>
              </a:xfrm>
              <a:prstGeom prst="rect">
                <a:avLst/>
              </a:prstGeom>
              <a:blipFill>
                <a:blip r:embed="rId2"/>
                <a:stretch>
                  <a:fillRect l="-3788" t="-1146" r="-505" b="-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4ADCD24-DA56-00EB-F679-4919FBEEABED}"/>
                  </a:ext>
                </a:extLst>
              </p:cNvPr>
              <p:cNvSpPr txBox="1"/>
              <p:nvPr/>
            </p:nvSpPr>
            <p:spPr>
              <a:xfrm>
                <a:off x="3667990" y="830725"/>
                <a:ext cx="2891817" cy="4329647"/>
              </a:xfrm>
              <a:prstGeom prst="rect">
                <a:avLst/>
              </a:prstGeom>
              <a:noFill/>
            </p:spPr>
            <p:txBody>
              <a:bodyPr wrap="none" lIns="0" tIns="0" rIns="0" bIns="0" rtlCol="0">
                <a:spAutoFit/>
              </a:bodyPr>
              <a:lstStyle/>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𝑞</m:t>
                        </m:r>
                      </m:sub>
                    </m:sSub>
                  </m:oMath>
                </a14:m>
                <a:endParaRPr lang="en-US" sz="1200" b="0" i="1" dirty="0">
                  <a:latin typeface="Cambria Math" panose="02040503050406030204" pitchFamily="18" charset="0"/>
                </a:endParaRPr>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b="0" i="1" smtClean="0">
                            <a:latin typeface="Cambria Math" panose="02040503050406030204" pitchFamily="18" charset="0"/>
                          </a:rPr>
                          <m:t>𝜃</m:t>
                        </m:r>
                      </m:e>
                    </m:func>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b="0" i="1" smtClean="0">
                            <a:latin typeface="Cambria Math" panose="02040503050406030204" pitchFamily="18" charset="0"/>
                          </a:rPr>
                          <m:t>𝑞</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i="1">
                            <a:latin typeface="Cambria Math" panose="02040503050406030204" pitchFamily="18" charset="0"/>
                          </a:rPr>
                          <m:t>,</m:t>
                        </m:r>
                        <m:r>
                          <a:rPr lang="en-US" sz="1200" i="1">
                            <a:latin typeface="Cambria Math" panose="02040503050406030204" pitchFamily="18" charset="0"/>
                          </a:rPr>
                          <m:t>𝑑</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𝑞</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𝛼</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b="0" i="1" smtClean="0">
                            <a:latin typeface="Cambria Math" panose="02040503050406030204" pitchFamily="18" charset="0"/>
                          </a:rPr>
                          <m:t>𝜃</m:t>
                        </m:r>
                      </m:e>
                    </m:func>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𝛽</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b="0" i="1" smtClean="0">
                            <a:latin typeface="Cambria Math" panose="02040503050406030204" pitchFamily="18" charset="0"/>
                          </a:rPr>
                          <m:t>𝜃</m:t>
                        </m:r>
                      </m:e>
                    </m:func>
                  </m:oMath>
                </a14:m>
                <a:endParaRPr lang="en-US" sz="1200" b="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𝑣</m:t>
                            </m:r>
                          </m:e>
                        </m:acc>
                      </m:e>
                      <m:sub>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𝛼</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i="1">
                            <a:latin typeface="Cambria Math" panose="02040503050406030204" pitchFamily="18" charset="0"/>
                          </a:rPr>
                          <m:t>𝜃</m:t>
                        </m:r>
                      </m:e>
                    </m:func>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𝛽</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𝑖</m:t>
                            </m:r>
                          </m:e>
                        </m:acc>
                      </m:e>
                      <m:sub>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𝛽</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𝑖</m:t>
                            </m:r>
                          </m:e>
                        </m:acc>
                      </m:e>
                      <m:sub>
                        <m:r>
                          <a:rPr lang="en-US" sz="1200" i="1">
                            <a:latin typeface="Cambria Math" panose="02040503050406030204" pitchFamily="18" charset="0"/>
                          </a:rPr>
                          <m:t>𝑞</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𝛽</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𝑖</m:t>
                        </m:r>
                      </m:e>
                      <m:sub>
                        <m:r>
                          <a:rPr lang="en-US" sz="1200" b="0" i="1" smtClean="0">
                            <a:latin typeface="Cambria Math" panose="02040503050406030204" pitchFamily="18" charset="0"/>
                          </a:rPr>
                          <m:t>𝑑</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3</m:t>
                        </m:r>
                      </m:sub>
                    </m:sSub>
                    <m:d>
                      <m:dPr>
                        <m:ctrlPr>
                          <a:rPr lang="en-US" sz="1200" b="0" i="1" smtClean="0">
                            <a:latin typeface="Cambria Math" panose="02040503050406030204" pitchFamily="18" charset="0"/>
                          </a:rPr>
                        </m:ctrlPr>
                      </m:dPr>
                      <m:e>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4</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3</m:t>
                        </m:r>
                      </m:sub>
                    </m:sSub>
                  </m:oMath>
                </a14:m>
                <a:endParaRPr lang="en-US" sz="1200" b="0" dirty="0"/>
              </a:p>
              <a:p>
                <a:pPr marL="342900" indent="-342900">
                  <a:buFont typeface="+mj-lt"/>
                  <a:buAutoNum type="arabicPeriod"/>
                </a:pPr>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𝑃𝐼</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5</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4</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6</m:t>
                        </m:r>
                      </m:sub>
                    </m:sSub>
                    <m:r>
                      <a:rPr lang="en-US" sz="1200" b="0" i="1" smtClean="0">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𝑖</m:t>
                        </m:r>
                      </m:e>
                      <m:sub>
                        <m:r>
                          <a:rPr lang="en-US" sz="1200" b="0" i="1" smtClean="0">
                            <a:latin typeface="Cambria Math" panose="02040503050406030204" pitchFamily="18" charset="0"/>
                          </a:rPr>
                          <m:t>𝑑</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𝑑</m:t>
                        </m:r>
                      </m:sub>
                    </m:sSub>
                    <m:r>
                      <a:rPr lang="en-US" sz="1200" b="0" i="1" smtClean="0">
                        <a:latin typeface="Cambria Math" panose="02040503050406030204" pitchFamily="18" charset="0"/>
                      </a:rPr>
                      <m:t>)</m:t>
                    </m:r>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𝑃𝐼</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𝑘</m:t>
                        </m:r>
                      </m:e>
                      <m:sub>
                        <m:r>
                          <a:rPr lang="en-US" sz="1200" b="0" i="1" smtClean="0">
                            <a:latin typeface="Cambria Math" panose="02040503050406030204" pitchFamily="18" charset="0"/>
                          </a:rPr>
                          <m:t>7</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𝑒</m:t>
                        </m:r>
                      </m:e>
                      <m:sub>
                        <m:r>
                          <a:rPr lang="en-US" sz="1200" b="0" i="1" smtClean="0">
                            <a:latin typeface="Cambria Math" panose="02040503050406030204" pitchFamily="18" charset="0"/>
                          </a:rPr>
                          <m:t>5</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𝑘</m:t>
                        </m:r>
                      </m:e>
                      <m:sub>
                        <m:r>
                          <a:rPr lang="en-US" sz="1200" b="0" i="1" smtClean="0">
                            <a:latin typeface="Cambria Math" panose="02040503050406030204" pitchFamily="18" charset="0"/>
                          </a:rPr>
                          <m:t>8</m:t>
                        </m:r>
                      </m:sub>
                    </m:sSub>
                    <m:d>
                      <m:dPr>
                        <m:ctrlPr>
                          <a:rPr lang="en-US" sz="1200" i="1">
                            <a:latin typeface="Cambria Math" panose="02040503050406030204" pitchFamily="18" charset="0"/>
                          </a:rPr>
                        </m:ctrlPr>
                      </m:dPr>
                      <m:e>
                        <m:sSubSup>
                          <m:sSubSupPr>
                            <m:ctrlPr>
                              <a:rPr lang="en-US" sz="1200" i="1">
                                <a:latin typeface="Cambria Math" panose="02040503050406030204" pitchFamily="18" charset="0"/>
                              </a:rPr>
                            </m:ctrlPr>
                          </m:sSubSupPr>
                          <m:e>
                            <m:r>
                              <a:rPr lang="en-US" sz="1200" i="1">
                                <a:latin typeface="Cambria Math" panose="02040503050406030204" pitchFamily="18" charset="0"/>
                              </a:rPr>
                              <m:t>𝑖</m:t>
                            </m:r>
                          </m:e>
                          <m:sub>
                            <m:r>
                              <a:rPr lang="en-US" sz="1200" b="0" i="1" smtClean="0">
                                <a:latin typeface="Cambria Math" panose="02040503050406030204" pitchFamily="18" charset="0"/>
                              </a:rPr>
                              <m:t>𝑞</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𝑞</m:t>
                            </m:r>
                          </m:sub>
                        </m:sSub>
                      </m:e>
                    </m:d>
                  </m:oMath>
                </a14:m>
                <a:endParaRPr lang="en-US" sz="1200" dirty="0"/>
              </a:p>
              <a:p>
                <a:pPr marL="342900" indent="-342900">
                  <a:buFont typeface="+mj-lt"/>
                  <a:buAutoNum type="arabicPeriod"/>
                </a:pPr>
                <a14:m>
                  <m:oMath xmlns:m="http://schemas.openxmlformats.org/officeDocument/2006/math">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𝑣</m:t>
                        </m:r>
                      </m:e>
                      <m:sub>
                        <m:r>
                          <a:rPr lang="en-US" sz="1200" b="0" i="1" smtClean="0">
                            <a:latin typeface="Cambria Math" panose="02040503050406030204" pitchFamily="18" charset="0"/>
                          </a:rPr>
                          <m:t>𝑐𝑜𝑛𝑣</m:t>
                        </m:r>
                        <m:r>
                          <a:rPr lang="en-US" sz="1200" b="0" i="1" smtClean="0">
                            <a:latin typeface="Cambria Math" panose="02040503050406030204" pitchFamily="18" charset="0"/>
                          </a:rPr>
                          <m:t>,</m:t>
                        </m:r>
                        <m:r>
                          <a:rPr lang="en-US" sz="1200" b="0" i="1" smtClean="0">
                            <a:latin typeface="Cambria Math" panose="02040503050406030204" pitchFamily="18" charset="0"/>
                          </a:rPr>
                          <m:t>𝑑</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𝑃𝐼</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𝐿</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𝑞</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m:t>
                        </m:r>
                        <m:r>
                          <a:rPr lang="en-US" sz="1200" b="0" i="1" smtClean="0">
                            <a:latin typeface="Cambria Math" panose="02040503050406030204" pitchFamily="18" charset="0"/>
                          </a:rPr>
                          <m:t>,</m:t>
                        </m:r>
                        <m:r>
                          <a:rPr lang="en-US" sz="1200" b="0" i="1" smtClean="0">
                            <a:latin typeface="Cambria Math" panose="02040503050406030204" pitchFamily="18" charset="0"/>
                          </a:rPr>
                          <m:t>𝑓𝑓</m:t>
                        </m:r>
                      </m:sub>
                    </m:sSub>
                  </m:oMath>
                </a14:m>
                <a:endParaRPr lang="en-US" sz="120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𝑞</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𝑃𝐼</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r>
                      <a:rPr lang="en-US" sz="1200" i="1">
                        <a:latin typeface="Cambria Math" panose="02040503050406030204" pitchFamily="18" charset="0"/>
                      </a:rPr>
                      <m:t>𝐿</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𝑞</m:t>
                        </m:r>
                        <m:r>
                          <a:rPr lang="en-US" sz="1200" i="1">
                            <a:latin typeface="Cambria Math" panose="02040503050406030204" pitchFamily="18" charset="0"/>
                          </a:rPr>
                          <m:t>,</m:t>
                        </m:r>
                        <m:r>
                          <a:rPr lang="en-US" sz="1200" i="1">
                            <a:latin typeface="Cambria Math" panose="02040503050406030204" pitchFamily="18" charset="0"/>
                          </a:rPr>
                          <m:t>𝑓𝑓</m:t>
                        </m:r>
                      </m:sub>
                    </m:sSub>
                  </m:oMath>
                </a14:m>
                <a:endParaRPr lang="en-US" sz="120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𝛼</m:t>
                        </m:r>
                      </m:sub>
                      <m:sup>
                        <m:r>
                          <a:rPr lang="en-US" sz="1200" i="1">
                            <a:latin typeface="Cambria Math" panose="02040503050406030204" pitchFamily="18" charset="0"/>
                          </a:rPr>
                          <m:t>∗</m:t>
                        </m:r>
                      </m:sup>
                    </m:sSubSup>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𝑑</m:t>
                        </m:r>
                      </m:sub>
                      <m:sup>
                        <m:r>
                          <a:rPr lang="en-US" sz="1200" i="1">
                            <a:latin typeface="Cambria Math" panose="02040503050406030204" pitchFamily="18" charset="0"/>
                          </a:rPr>
                          <m:t>∗</m:t>
                        </m:r>
                      </m:sup>
                    </m:sSubSup>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𝑞</m:t>
                        </m:r>
                      </m:sub>
                      <m:sup>
                        <m:r>
                          <a:rPr lang="en-US" sz="1200" i="1">
                            <a:latin typeface="Cambria Math" panose="02040503050406030204" pitchFamily="18" charset="0"/>
                          </a:rPr>
                          <m:t>∗</m:t>
                        </m:r>
                      </m:sup>
                    </m:sSubSup>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𝛽</m:t>
                        </m:r>
                      </m:sub>
                      <m:sup>
                        <m:r>
                          <a:rPr lang="en-US" sz="1200" i="1">
                            <a:latin typeface="Cambria Math" panose="02040503050406030204" pitchFamily="18" charset="0"/>
                          </a:rPr>
                          <m:t>∗</m:t>
                        </m:r>
                      </m:sup>
                    </m:sSubSup>
                    <m:r>
                      <a:rPr lang="en-US" sz="1200" i="1">
                        <a:latin typeface="Cambria Math" panose="02040503050406030204" pitchFamily="18" charset="0"/>
                      </a:rPr>
                      <m:t>=</m:t>
                    </m:r>
                    <m:r>
                      <a:rPr lang="en-US" sz="1200" b="0" i="1" smtClean="0">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𝑑</m:t>
                        </m:r>
                      </m:sub>
                      <m:sup>
                        <m:r>
                          <a:rPr lang="en-US" sz="1200" i="1">
                            <a:latin typeface="Cambria Math" panose="02040503050406030204" pitchFamily="18" charset="0"/>
                          </a:rPr>
                          <m:t>∗</m:t>
                        </m:r>
                      </m:sup>
                    </m:sSubSup>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i="1">
                            <a:latin typeface="Cambria Math" panose="02040503050406030204" pitchFamily="18" charset="0"/>
                          </a:rPr>
                          <m:t>𝜃</m:t>
                        </m:r>
                      </m:e>
                    </m:func>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𝑞</m:t>
                        </m:r>
                      </m:sub>
                      <m:sup>
                        <m:r>
                          <a:rPr lang="en-US" sz="1200" i="1">
                            <a:latin typeface="Cambria Math" panose="02040503050406030204" pitchFamily="18" charset="0"/>
                          </a:rPr>
                          <m:t>∗</m:t>
                        </m:r>
                      </m:sup>
                    </m:sSubSup>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b="0" i="1" smtClean="0">
                            <a:latin typeface="Cambria Math" panose="02040503050406030204" pitchFamily="18" charset="0"/>
                          </a:rPr>
                          <m:t>∗</m:t>
                        </m:r>
                      </m:sup>
                    </m:sSup>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𝑣</m:t>
                            </m:r>
                          </m:e>
                          <m:sub>
                            <m:r>
                              <a:rPr lang="en-US" sz="1200" b="0" i="1" smtClean="0">
                                <a:latin typeface="Cambria Math" panose="02040503050406030204" pitchFamily="18" charset="0"/>
                              </a:rPr>
                              <m:t>𝑐𝑜𝑛𝑣</m:t>
                            </m:r>
                            <m:r>
                              <a:rPr lang="en-US" sz="1200" b="0" i="1" smtClean="0">
                                <a:latin typeface="Cambria Math" panose="02040503050406030204" pitchFamily="18" charset="0"/>
                              </a:rPr>
                              <m:t>,</m:t>
                            </m:r>
                            <m:r>
                              <a:rPr lang="en-US" sz="1200" b="0" i="1" smtClean="0">
                                <a:latin typeface="Cambria Math" panose="02040503050406030204" pitchFamily="18" charset="0"/>
                              </a:rPr>
                              <m:t>𝛼</m:t>
                            </m:r>
                          </m:sub>
                          <m:sup>
                            <m:r>
                              <a:rPr lang="en-US" sz="1200" b="0" i="1" smtClean="0">
                                <a:latin typeface="Cambria Math" panose="02040503050406030204" pitchFamily="18" charset="0"/>
                              </a:rPr>
                              <m:t>∗</m:t>
                            </m:r>
                          </m:sup>
                        </m:sSubSup>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den>
                    </m:f>
                  </m:oMath>
                </a14:m>
                <a:endParaRPr lang="en-US" sz="1200" b="0" dirty="0"/>
              </a:p>
              <a:p>
                <a:pPr marL="342900" indent="-342900">
                  <a:buFont typeface="+mj-lt"/>
                  <a:buAutoNum type="arabicPeriod"/>
                </a:pPr>
                <a14:m>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r>
                      <m:rPr>
                        <m:sty m:val="p"/>
                      </m:rPr>
                      <a:rPr lang="en-US" sz="1200" b="0" i="0" smtClean="0">
                        <a:latin typeface="Cambria Math" panose="02040503050406030204" pitchFamily="18" charset="0"/>
                      </a:rPr>
                      <m:t>sat</m:t>
                    </m:r>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b="0" i="1" smtClean="0">
                                <a:latin typeface="Cambria Math" panose="02040503050406030204" pitchFamily="18" charset="0"/>
                              </a:rPr>
                              <m:t>∗</m:t>
                            </m:r>
                          </m:sup>
                        </m:sSup>
                        <m:r>
                          <a:rPr lang="en-US" sz="1200" b="0" i="1" smtClean="0">
                            <a:latin typeface="Cambria Math" panose="02040503050406030204" pitchFamily="18" charset="0"/>
                          </a:rPr>
                          <m:t>,−1,1</m:t>
                        </m:r>
                      </m:e>
                    </m:d>
                  </m:oMath>
                </a14:m>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𝑐𝑜𝑛𝑣</m:t>
                        </m:r>
                        <m:r>
                          <a:rPr lang="en-US" sz="1200" b="0" i="1" smtClean="0">
                            <a:latin typeface="Cambria Math" panose="02040503050406030204" pitchFamily="18" charset="0"/>
                          </a:rPr>
                          <m:t>,</m:t>
                        </m:r>
                        <m:r>
                          <a:rPr lang="en-US" sz="1200" b="0" i="1" smtClean="0">
                            <a:latin typeface="Cambria Math" panose="02040503050406030204" pitchFamily="18" charset="0"/>
                          </a:rPr>
                          <m:t>𝛼</m:t>
                        </m:r>
                      </m:sub>
                    </m:sSub>
                    <m:r>
                      <a:rPr lang="en-US" sz="1200" b="0" i="1" smtClean="0">
                        <a:latin typeface="Cambria Math" panose="02040503050406030204" pitchFamily="18" charset="0"/>
                      </a:rPr>
                      <m:t>=</m:t>
                    </m:r>
                    <m:r>
                      <a:rPr lang="en-US" sz="1200" b="0" i="1" smtClean="0">
                        <a:latin typeface="Cambria Math" panose="02040503050406030204" pitchFamily="18" charset="0"/>
                      </a:rPr>
                      <m:t>𝑚</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oMath>
                </a14:m>
                <a:endParaRPr lang="en-US" sz="1200" b="0" dirty="0"/>
              </a:p>
              <a:p>
                <a:pPr marL="342900" indent="-342900">
                  <a:buFont typeface="+mj-lt"/>
                  <a:buAutoNum type="arabicPeriod"/>
                </a:pPr>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m:t>
                    </m:r>
                    <m:r>
                      <a:rPr lang="en-US" sz="1200" b="0" i="1" smtClean="0">
                        <a:latin typeface="Cambria Math" panose="02040503050406030204" pitchFamily="18" charset="0"/>
                      </a:rPr>
                      <m:t>𝑚</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sub>
                    </m:sSub>
                  </m:oMath>
                </a14:m>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𝑠ℎ</m:t>
                            </m:r>
                          </m:sub>
                        </m:sSub>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𝑠ℎ</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den>
                    </m:f>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m:t>
                    </m:r>
                  </m:oMath>
                </a14:m>
                <a:endParaRPr lang="en-US" sz="1200" dirty="0"/>
              </a:p>
            </p:txBody>
          </p:sp>
        </mc:Choice>
        <mc:Fallback xmlns="">
          <p:sp>
            <p:nvSpPr>
              <p:cNvPr id="6" name="TextBox 5">
                <a:extLst>
                  <a:ext uri="{FF2B5EF4-FFF2-40B4-BE49-F238E27FC236}">
                    <a16:creationId xmlns:a16="http://schemas.microsoft.com/office/drawing/2014/main" id="{B4ADCD24-DA56-00EB-F679-4919FBEEABED}"/>
                  </a:ext>
                </a:extLst>
              </p:cNvPr>
              <p:cNvSpPr txBox="1">
                <a:spLocks noRot="1" noChangeAspect="1" noMove="1" noResize="1" noEditPoints="1" noAdjustHandles="1" noChangeArrowheads="1" noChangeShapeType="1" noTextEdit="1"/>
              </p:cNvSpPr>
              <p:nvPr/>
            </p:nvSpPr>
            <p:spPr>
              <a:xfrm>
                <a:off x="3667990" y="830725"/>
                <a:ext cx="2891817" cy="4329647"/>
              </a:xfrm>
              <a:prstGeom prst="rect">
                <a:avLst/>
              </a:prstGeom>
              <a:blipFill>
                <a:blip r:embed="rId3"/>
                <a:stretch>
                  <a:fillRect l="-3376" t="-1125" r="-168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AC2CEC0-9AC3-7EF8-C8AE-3D19D71BA8C3}"/>
                  </a:ext>
                </a:extLst>
              </p:cNvPr>
              <p:cNvSpPr txBox="1"/>
              <p:nvPr/>
            </p:nvSpPr>
            <p:spPr>
              <a:xfrm>
                <a:off x="7220086" y="830725"/>
                <a:ext cx="1126206" cy="967252"/>
              </a:xfrm>
              <a:prstGeom prst="rect">
                <a:avLst/>
              </a:prstGeom>
              <a:noFill/>
            </p:spPr>
            <p:txBody>
              <a:bodyPr wrap="none" lIns="0" tIns="0" rIns="0" bIns="0" rtlCol="0">
                <a:spAutoFit/>
              </a:bodyPr>
              <a:lstStyle/>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m:t>
                        </m:r>
                        <m:r>
                          <a:rPr lang="en-US" sz="1200" b="0" i="1" smtClean="0">
                            <a:latin typeface="Cambria Math" panose="02040503050406030204" pitchFamily="18" charset="0"/>
                          </a:rPr>
                          <m:t>,</m:t>
                        </m:r>
                        <m:r>
                          <a:rPr lang="en-US" sz="1200" b="0" i="1" smtClean="0">
                            <a:latin typeface="Cambria Math" panose="02040503050406030204" pitchFamily="18" charset="0"/>
                          </a:rPr>
                          <m:t>𝑓𝑓</m:t>
                        </m:r>
                      </m:sub>
                    </m:sSub>
                    <m:r>
                      <a:rPr lang="en-US" sz="1200" b="0" i="1" smtClean="0">
                        <a:latin typeface="Cambria Math" panose="02040503050406030204" pitchFamily="18" charset="0"/>
                      </a:rPr>
                      <m:t>=170</m:t>
                    </m:r>
                  </m:oMath>
                </a14:m>
                <a:endParaRPr lang="en-US" sz="1200" b="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𝑞</m:t>
                        </m:r>
                        <m:r>
                          <a:rPr lang="en-US" sz="1200" i="1">
                            <a:latin typeface="Cambria Math" panose="02040503050406030204" pitchFamily="18" charset="0"/>
                          </a:rPr>
                          <m:t>,</m:t>
                        </m:r>
                        <m:r>
                          <a:rPr lang="en-US" sz="1200" i="1">
                            <a:latin typeface="Cambria Math" panose="02040503050406030204" pitchFamily="18" charset="0"/>
                          </a:rPr>
                          <m:t>𝑓𝑓</m:t>
                        </m:r>
                      </m:sub>
                    </m:sSub>
                    <m:r>
                      <a:rPr lang="en-US" sz="1200" i="1">
                        <a:latin typeface="Cambria Math" panose="02040503050406030204" pitchFamily="18" charset="0"/>
                      </a:rPr>
                      <m:t>=</m:t>
                    </m:r>
                    <m:r>
                      <a:rPr lang="en-US" sz="1200" b="0" i="1" smtClean="0">
                        <a:latin typeface="Cambria Math" panose="02040503050406030204" pitchFamily="18" charset="0"/>
                      </a:rPr>
                      <m:t>0</m:t>
                    </m:r>
                  </m:oMath>
                </a14:m>
                <a:endParaRPr lang="en-US" sz="1200" b="0" dirty="0"/>
              </a:p>
              <a:p>
                <a:pPr marL="342900" indent="-342900">
                  <a:buFont typeface="+mj-lt"/>
                  <a:buAutoNum type="arabicPeriod"/>
                </a:pPr>
                <a14:m>
                  <m:oMath xmlns:m="http://schemas.openxmlformats.org/officeDocument/2006/math">
                    <m:sSubSup>
                      <m:sSubSupPr>
                        <m:ctrlPr>
                          <a:rPr lang="en-US" sz="1200" i="1" smtClean="0">
                            <a:latin typeface="Cambria Math" panose="02040503050406030204" pitchFamily="18" charset="0"/>
                          </a:rPr>
                        </m:ctrlPr>
                      </m:sSubSupPr>
                      <m:e>
                        <m:r>
                          <a:rPr lang="en-US" sz="1200" i="1" smtClean="0">
                            <a:latin typeface="Cambria Math" panose="02040503050406030204" pitchFamily="18" charset="0"/>
                          </a:rPr>
                          <m:t>𝑖</m:t>
                        </m:r>
                      </m:e>
                      <m:sub>
                        <m:r>
                          <a:rPr lang="en-US" sz="1200" b="0" i="1" smtClean="0">
                            <a:latin typeface="Cambria Math" panose="02040503050406030204" pitchFamily="18" charset="0"/>
                          </a:rPr>
                          <m:t>𝑞</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=0</m:t>
                    </m:r>
                  </m:oMath>
                </a14:m>
                <a:endParaRPr lang="en-US" sz="120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𝑑𝑐</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=300</m:t>
                    </m:r>
                  </m:oMath>
                </a14:m>
                <a:endParaRPr lang="en-US" sz="1200" dirty="0"/>
              </a:p>
              <a:p>
                <a:pPr marL="342900" indent="-342900">
                  <a:buFont typeface="+mj-lt"/>
                  <a:buAutoNum type="arabicPeriod"/>
                </a:pPr>
                <a14:m>
                  <m:oMath xmlns:m="http://schemas.openxmlformats.org/officeDocument/2006/math">
                    <m:r>
                      <a:rPr lang="en-US" sz="1200" b="0" i="1" smtClean="0">
                        <a:latin typeface="Cambria Math" panose="02040503050406030204" pitchFamily="18" charset="0"/>
                      </a:rPr>
                      <m:t>𝜙</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𝑡</m:t>
                    </m:r>
                  </m:oMath>
                </a14:m>
                <a:endParaRPr lang="en-US" sz="1200" dirty="0"/>
              </a:p>
            </p:txBody>
          </p:sp>
        </mc:Choice>
        <mc:Fallback xmlns="">
          <p:sp>
            <p:nvSpPr>
              <p:cNvPr id="8" name="TextBox 7">
                <a:extLst>
                  <a:ext uri="{FF2B5EF4-FFF2-40B4-BE49-F238E27FC236}">
                    <a16:creationId xmlns:a16="http://schemas.microsoft.com/office/drawing/2014/main" id="{2AC2CEC0-9AC3-7EF8-C8AE-3D19D71BA8C3}"/>
                  </a:ext>
                </a:extLst>
              </p:cNvPr>
              <p:cNvSpPr txBox="1">
                <a:spLocks noRot="1" noChangeAspect="1" noMove="1" noResize="1" noEditPoints="1" noAdjustHandles="1" noChangeArrowheads="1" noChangeShapeType="1" noTextEdit="1"/>
              </p:cNvSpPr>
              <p:nvPr/>
            </p:nvSpPr>
            <p:spPr>
              <a:xfrm>
                <a:off x="7220086" y="830725"/>
                <a:ext cx="1126206" cy="967252"/>
              </a:xfrm>
              <a:prstGeom prst="rect">
                <a:avLst/>
              </a:prstGeom>
              <a:blipFill>
                <a:blip r:embed="rId4"/>
                <a:stretch>
                  <a:fillRect l="-8108" t="-5031" r="-4324" b="-8176"/>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F5D3D22A-45C0-6181-CE8E-247DCBCB4048}"/>
              </a:ext>
            </a:extLst>
          </p:cNvPr>
          <p:cNvSpPr txBox="1"/>
          <p:nvPr/>
        </p:nvSpPr>
        <p:spPr>
          <a:xfrm>
            <a:off x="609600" y="245950"/>
            <a:ext cx="1670650" cy="584775"/>
          </a:xfrm>
          <a:prstGeom prst="rect">
            <a:avLst/>
          </a:prstGeom>
          <a:noFill/>
        </p:spPr>
        <p:txBody>
          <a:bodyPr wrap="none" rtlCol="0">
            <a:spAutoFit/>
          </a:bodyPr>
          <a:lstStyle/>
          <a:p>
            <a:r>
              <a:rPr lang="en-US" sz="3200" dirty="0"/>
              <a:t>Rectifier</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66ABE1D4-CB6B-9151-2D2E-D243F44D14A2}"/>
                  </a:ext>
                </a:extLst>
              </p:cNvPr>
              <p:cNvSpPr txBox="1"/>
              <p:nvPr/>
            </p:nvSpPr>
            <p:spPr>
              <a:xfrm>
                <a:off x="460215" y="5539675"/>
                <a:ext cx="11068765" cy="830997"/>
              </a:xfrm>
              <a:prstGeom prst="rect">
                <a:avLst/>
              </a:prstGeom>
              <a:noFill/>
            </p:spPr>
            <p:txBody>
              <a:bodyPr wrap="square" rtlCol="0">
                <a:spAutoFit/>
              </a:bodyPr>
              <a:lstStyle/>
              <a:p>
                <a:r>
                  <a:rPr lang="en-US" sz="1200" dirty="0"/>
                  <a:t>In this version1, the plant and the controller have different frame angles. </a:t>
                </a:r>
                <a14:m>
                  <m:oMath xmlns:m="http://schemas.openxmlformats.org/officeDocument/2006/math">
                    <m:r>
                      <a:rPr lang="en-US" sz="1200" b="0" i="1" smtClean="0">
                        <a:latin typeface="Cambria Math" panose="02040503050406030204" pitchFamily="18" charset="0"/>
                      </a:rPr>
                      <m:t>𝜙</m:t>
                    </m:r>
                  </m:oMath>
                </a14:m>
                <a:r>
                  <a:rPr lang="en-US" sz="1200" dirty="0"/>
                  <a:t> is the grid angle independent of the PLL; the PLL must track this angle. The PLL estimates </a:t>
                </a:r>
                <a14:m>
                  <m:oMath xmlns:m="http://schemas.openxmlformats.org/officeDocument/2006/math">
                    <m:r>
                      <a:rPr lang="en-US" sz="1200" i="1">
                        <a:latin typeface="Cambria Math" panose="02040503050406030204" pitchFamily="18" charset="0"/>
                      </a:rPr>
                      <m:t>𝜙</m:t>
                    </m:r>
                  </m:oMath>
                </a14:m>
                <a:r>
                  <a:rPr lang="en-US" sz="1200" dirty="0"/>
                  <a:t> with </a:t>
                </a:r>
                <a14:m>
                  <m:oMath xmlns:m="http://schemas.openxmlformats.org/officeDocument/2006/math">
                    <m:r>
                      <a:rPr lang="en-US" sz="1200" b="0" i="1" smtClean="0">
                        <a:latin typeface="Cambria Math" panose="02040503050406030204" pitchFamily="18" charset="0"/>
                      </a:rPr>
                      <m:t>𝜃</m:t>
                    </m:r>
                  </m:oMath>
                </a14:m>
                <a:r>
                  <a:rPr lang="en-US" sz="1200" dirty="0"/>
                  <a:t>. The plant and controller quantities, then, have different </a:t>
                </a:r>
                <a:r>
                  <a:rPr lang="en-US" sz="1200" dirty="0" err="1"/>
                  <a:t>dq</a:t>
                </a:r>
                <a:r>
                  <a:rPr lang="en-US" sz="1200" dirty="0"/>
                  <a:t> transformations. The controller uses the hatted </a:t>
                </a:r>
                <a:r>
                  <a:rPr lang="en-US" sz="1200" dirty="0" err="1"/>
                  <a:t>dq</a:t>
                </a:r>
                <a:r>
                  <a:rPr lang="en-US" sz="1200" dirty="0"/>
                  <a:t> values; any plant ab-quantity is rotated by </a:t>
                </a:r>
                <a14:m>
                  <m:oMath xmlns:m="http://schemas.openxmlformats.org/officeDocument/2006/math">
                    <m:r>
                      <a:rPr lang="en-US" sz="1200" i="1">
                        <a:latin typeface="Cambria Math" panose="02040503050406030204" pitchFamily="18" charset="0"/>
                      </a:rPr>
                      <m:t>𝜃</m:t>
                    </m:r>
                  </m:oMath>
                </a14:m>
                <a:r>
                  <a:rPr lang="en-US" sz="1200" dirty="0"/>
                  <a:t> first before it is used further in the control. </a:t>
                </a:r>
              </a:p>
              <a:p>
                <a:r>
                  <a:rPr lang="en-US" sz="1200" dirty="0"/>
                  <a:t>This version also use virtual damping through the gain </a:t>
                </a: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𝐾</m:t>
                        </m:r>
                      </m:e>
                      <m:sub>
                        <m:r>
                          <a:rPr lang="en-US" sz="1200" b="0" i="1" smtClean="0">
                            <a:latin typeface="Cambria Math" panose="02040503050406030204" pitchFamily="18" charset="0"/>
                          </a:rPr>
                          <m:t>𝑎𝑑</m:t>
                        </m:r>
                      </m:sub>
                    </m:sSub>
                  </m:oMath>
                </a14:m>
                <a:r>
                  <a:rPr lang="en-US" sz="1200" dirty="0"/>
                  <a:t>. When set to 0, there is no virtual damping, as in the simulations.</a:t>
                </a:r>
              </a:p>
            </p:txBody>
          </p:sp>
        </mc:Choice>
        <mc:Fallback>
          <p:sp>
            <p:nvSpPr>
              <p:cNvPr id="3" name="TextBox 2">
                <a:extLst>
                  <a:ext uri="{FF2B5EF4-FFF2-40B4-BE49-F238E27FC236}">
                    <a16:creationId xmlns:a16="http://schemas.microsoft.com/office/drawing/2014/main" id="{66ABE1D4-CB6B-9151-2D2E-D243F44D14A2}"/>
                  </a:ext>
                </a:extLst>
              </p:cNvPr>
              <p:cNvSpPr txBox="1">
                <a:spLocks noRot="1" noChangeAspect="1" noMove="1" noResize="1" noEditPoints="1" noAdjustHandles="1" noChangeArrowheads="1" noChangeShapeType="1" noTextEdit="1"/>
              </p:cNvSpPr>
              <p:nvPr/>
            </p:nvSpPr>
            <p:spPr>
              <a:xfrm>
                <a:off x="460215" y="5539675"/>
                <a:ext cx="11068765" cy="830997"/>
              </a:xfrm>
              <a:prstGeom prst="rect">
                <a:avLst/>
              </a:prstGeom>
              <a:blipFill>
                <a:blip r:embed="rId5"/>
                <a:stretch>
                  <a:fillRect t="-1515" b="-454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DB574416-A289-3C27-084C-25A18DDCE370}"/>
                  </a:ext>
                </a:extLst>
              </p:cNvPr>
              <p:cNvSpPr txBox="1"/>
              <p:nvPr/>
            </p:nvSpPr>
            <p:spPr>
              <a:xfrm>
                <a:off x="7312571" y="3782886"/>
                <a:ext cx="2192652" cy="743793"/>
              </a:xfrm>
              <a:prstGeom prst="rect">
                <a:avLst/>
              </a:prstGeom>
              <a:noFill/>
            </p:spPr>
            <p:txBody>
              <a:bodyPr wrap="none" lIns="0" tIns="0" rIns="0" bIns="0" rtlCol="0">
                <a:spAutoFit/>
              </a:bodyPr>
              <a:lstStyle/>
              <a:p>
                <a:pPr marL="228600" indent="-228600">
                  <a:buFont typeface="+mj-lt"/>
                  <a:buAutoNum type="arabicPeriod" startAt="20"/>
                </a:pPr>
                <a:r>
                  <a:rPr lang="en-US" sz="1200" i="1" dirty="0">
                    <a:latin typeface="Cambria Math" panose="02040503050406030204" pitchFamily="18" charset="0"/>
                  </a:rPr>
                  <a:t> </a:t>
                </a: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b="0" i="1" smtClean="0">
                                <a:latin typeface="Cambria Math" panose="02040503050406030204" pitchFamily="18" charset="0"/>
                              </a:rPr>
                              <m:t>𝑔</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num>
                      <m:den>
                        <m:r>
                          <a:rPr lang="en-US" sz="1200" i="1">
                            <a:latin typeface="Cambria Math" panose="02040503050406030204" pitchFamily="18" charset="0"/>
                          </a:rPr>
                          <m:t>𝐿</m:t>
                        </m:r>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𝑞</m:t>
                        </m:r>
                      </m:sub>
                    </m:sSub>
                  </m:oMath>
                </a14:m>
                <a:endParaRPr lang="en-US" sz="1200" i="1" dirty="0">
                  <a:latin typeface="Cambria Math" panose="02040503050406030204" pitchFamily="18" charset="0"/>
                </a:endParaRPr>
              </a:p>
              <a:p>
                <a:pPr marL="228600" indent="-228600">
                  <a:buFont typeface="+mj-lt"/>
                  <a:buAutoNum type="arabicPeriod" startAt="20"/>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𝑞</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b="0" i="1" smtClean="0">
                                <a:latin typeface="Cambria Math" panose="02040503050406030204" pitchFamily="18" charset="0"/>
                              </a:rPr>
                              <m:t>𝑔</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𝑞</m:t>
                            </m:r>
                          </m:sub>
                        </m:sSub>
                      </m:num>
                      <m:den>
                        <m:r>
                          <a:rPr lang="en-US" sz="1200" i="1">
                            <a:latin typeface="Cambria Math" panose="02040503050406030204" pitchFamily="18" charset="0"/>
                          </a:rPr>
                          <m:t>𝐿</m:t>
                        </m:r>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oMath>
                </a14:m>
                <a:endParaRPr lang="en-US" sz="1200" dirty="0"/>
              </a:p>
              <a:p>
                <a:endParaRPr lang="en-US" sz="1200" dirty="0"/>
              </a:p>
            </p:txBody>
          </p:sp>
        </mc:Choice>
        <mc:Fallback>
          <p:sp>
            <p:nvSpPr>
              <p:cNvPr id="7" name="TextBox 6">
                <a:extLst>
                  <a:ext uri="{FF2B5EF4-FFF2-40B4-BE49-F238E27FC236}">
                    <a16:creationId xmlns:a16="http://schemas.microsoft.com/office/drawing/2014/main" id="{DB574416-A289-3C27-084C-25A18DDCE370}"/>
                  </a:ext>
                </a:extLst>
              </p:cNvPr>
              <p:cNvSpPr txBox="1">
                <a:spLocks noRot="1" noChangeAspect="1" noMove="1" noResize="1" noEditPoints="1" noAdjustHandles="1" noChangeArrowheads="1" noChangeShapeType="1" noTextEdit="1"/>
              </p:cNvSpPr>
              <p:nvPr/>
            </p:nvSpPr>
            <p:spPr>
              <a:xfrm>
                <a:off x="7312571" y="3782886"/>
                <a:ext cx="2192652" cy="743793"/>
              </a:xfrm>
              <a:prstGeom prst="rect">
                <a:avLst/>
              </a:prstGeom>
              <a:blipFill>
                <a:blip r:embed="rId6"/>
                <a:stretch>
                  <a:fillRect l="-4046" r="-578"/>
                </a:stretch>
              </a:blipFill>
            </p:spPr>
            <p:txBody>
              <a:bodyPr/>
              <a:lstStyle/>
              <a:p>
                <a:r>
                  <a:rPr lang="en-US">
                    <a:noFill/>
                  </a:rPr>
                  <a:t> </a:t>
                </a:r>
              </a:p>
            </p:txBody>
          </p:sp>
        </mc:Fallback>
      </mc:AlternateContent>
    </p:spTree>
    <p:extLst>
      <p:ext uri="{BB962C8B-B14F-4D97-AF65-F5344CB8AC3E}">
        <p14:creationId xmlns:p14="http://schemas.microsoft.com/office/powerpoint/2010/main" val="41622211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23108-E0FB-BC60-562F-02760DD0ABB5}"/>
            </a:ext>
          </a:extLst>
        </p:cNvPr>
        <p:cNvGrpSpPr/>
        <p:nvPr/>
      </p:nvGrpSpPr>
      <p:grpSpPr>
        <a:xfrm>
          <a:off x="0" y="0"/>
          <a:ext cx="0" cy="0"/>
          <a:chOff x="0" y="0"/>
          <a:chExt cx="0" cy="0"/>
        </a:xfrm>
      </p:grpSpPr>
      <p:grpSp>
        <p:nvGrpSpPr>
          <p:cNvPr id="10" name="Group 9">
            <a:extLst>
              <a:ext uri="{FF2B5EF4-FFF2-40B4-BE49-F238E27FC236}">
                <a16:creationId xmlns:a16="http://schemas.microsoft.com/office/drawing/2014/main" id="{61F610B0-A33A-B594-4EEC-B64CF1305E80}"/>
              </a:ext>
            </a:extLst>
          </p:cNvPr>
          <p:cNvGrpSpPr/>
          <p:nvPr/>
        </p:nvGrpSpPr>
        <p:grpSpPr>
          <a:xfrm>
            <a:off x="609600" y="995159"/>
            <a:ext cx="8457658" cy="4358103"/>
            <a:chOff x="609600" y="768915"/>
            <a:chExt cx="11583213" cy="5608238"/>
          </a:xfrm>
        </p:grpSpPr>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A811ECB9-24F9-6724-8602-1A3D14B4C057}"/>
                    </a:ext>
                  </a:extLst>
                </p:cNvPr>
                <p:cNvSpPr txBox="1"/>
                <p:nvPr/>
              </p:nvSpPr>
              <p:spPr>
                <a:xfrm>
                  <a:off x="609600" y="938381"/>
                  <a:ext cx="5486400" cy="5438772"/>
                </a:xfrm>
                <a:prstGeom prst="rect">
                  <a:avLst/>
                </a:prstGeom>
                <a:noFill/>
              </p:spPr>
              <p:txBody>
                <a:bodyPr wrap="square" lIns="0" tIns="0" rIns="0" bIns="0" rtlCol="0">
                  <a:spAutoFit/>
                </a:bodyPr>
                <a:lstStyle/>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𝛼</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𝑣</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𝛼</m:t>
                              </m:r>
                            </m:sub>
                          </m:sSub>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𝛽</m:t>
                          </m:r>
                        </m:sub>
                      </m:sSub>
                    </m:oMath>
                  </a14:m>
                  <a:endParaRPr lang="en-US" sz="120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𝛽</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𝛼</m:t>
                          </m:r>
                        </m:sub>
                      </m:sSub>
                    </m:oMath>
                  </a14:m>
                  <a:endParaRPr lang="en-US" sz="1200" b="0" dirty="0"/>
                </a:p>
                <a:p>
                  <a:pPr marL="342900" indent="-342900">
                    <a:buFont typeface="+mj-lt"/>
                    <a:buAutoNum type="arabicPeriod"/>
                  </a:pPr>
                  <a14:m>
                    <m:oMath xmlns:m="http://schemas.openxmlformats.org/officeDocument/2006/math">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𝜃</m:t>
                          </m:r>
                        </m:e>
                      </m:acc>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1</m:t>
                          </m:r>
                        </m:sub>
                      </m:sSub>
                      <m:sSub>
                        <m:sSubPr>
                          <m:ctrlPr>
                            <a:rPr lang="en-US" sz="1200" b="0" i="1" smtClean="0">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𝑣</m:t>
                              </m:r>
                            </m:e>
                          </m:acc>
                        </m:e>
                        <m:sub>
                          <m:r>
                            <a:rPr lang="en-US" sz="1200" b="0" i="1" smtClean="0">
                              <a:latin typeface="Cambria Math" panose="02040503050406030204" pitchFamily="18" charset="0"/>
                            </a:rPr>
                            <m:t>𝑞</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2</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2</m:t>
                          </m:r>
                        </m:sub>
                      </m:sSub>
                    </m:oMath>
                  </a14:m>
                  <a:endParaRPr lang="en-US" sz="1200" b="0" dirty="0"/>
                </a:p>
                <a:p>
                  <a:pPr marL="342900" indent="-342900">
                    <a:buFont typeface="+mj-lt"/>
                    <a:buAutoNum type="arabicPeriod"/>
                  </a:pPr>
                  <a:endParaRPr lang="en-US" sz="1200" b="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𝛼</m:t>
                              </m:r>
                            </m:sub>
                          </m:sSub>
                        </m:e>
                      </m:acc>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𝑘</m:t>
                          </m:r>
                        </m:e>
                        <m:sub>
                          <m:r>
                            <a:rPr lang="en-US" sz="1200" b="0" i="1" smtClean="0">
                              <a:latin typeface="Cambria Math" panose="02040503050406030204" pitchFamily="18" charset="0"/>
                            </a:rPr>
                            <m:t>𝑖</m:t>
                          </m:r>
                        </m:sub>
                      </m:sSub>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e>
                      </m:d>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𝛽</m:t>
                          </m:r>
                        </m:sub>
                      </m:sSub>
                    </m:oMath>
                  </a14:m>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𝛽</m:t>
                              </m:r>
                            </m:sub>
                          </m:sSub>
                        </m:e>
                      </m:acc>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sSub>
                        <m:sSubPr>
                          <m:ctrlPr>
                            <a:rPr lang="en-US" sz="1200" b="0" i="1" strike="sngStrike" smtClean="0">
                              <a:latin typeface="Cambria Math" panose="02040503050406030204" pitchFamily="18" charset="0"/>
                            </a:rPr>
                          </m:ctrlPr>
                        </m:sSubPr>
                        <m:e>
                          <m:acc>
                            <m:accPr>
                              <m:chr m:val="̇"/>
                              <m:ctrlPr>
                                <a:rPr lang="en-US" sz="1200" b="0" i="1" strike="sngStrike" smtClean="0">
                                  <a:latin typeface="Cambria Math" panose="02040503050406030204" pitchFamily="18" charset="0"/>
                                </a:rPr>
                              </m:ctrlPr>
                            </m:accPr>
                            <m:e>
                              <m:r>
                                <a:rPr lang="en-US" sz="1200" b="0" i="1" strike="sngStrike" smtClean="0">
                                  <a:latin typeface="Cambria Math" panose="02040503050406030204" pitchFamily="18" charset="0"/>
                                </a:rPr>
                                <m:t>𝑒</m:t>
                              </m:r>
                            </m:e>
                          </m:acc>
                        </m:e>
                        <m:sub>
                          <m:r>
                            <a:rPr lang="en-US" sz="1200" b="0" i="1" strike="sngStrike" smtClean="0">
                              <a:latin typeface="Cambria Math" panose="02040503050406030204" pitchFamily="18" charset="0"/>
                            </a:rPr>
                            <m:t>3</m:t>
                          </m:r>
                        </m:sub>
                      </m:sSub>
                      <m:r>
                        <a:rPr lang="en-US" sz="1200" b="0" i="1" strike="sngStrike" smtClean="0">
                          <a:latin typeface="Cambria Math" panose="02040503050406030204" pitchFamily="18" charset="0"/>
                        </a:rPr>
                        <m:t>=</m:t>
                      </m:r>
                      <m:sSubSup>
                        <m:sSubSupPr>
                          <m:ctrlPr>
                            <a:rPr lang="en-US" sz="1200" b="0" i="1" strike="sngStrike" smtClean="0">
                              <a:latin typeface="Cambria Math" panose="02040503050406030204" pitchFamily="18" charset="0"/>
                            </a:rPr>
                          </m:ctrlPr>
                        </m:sSubSupPr>
                        <m:e>
                          <m:r>
                            <a:rPr lang="en-US" sz="1200" b="0" i="1" strike="sngStrike" smtClean="0">
                              <a:latin typeface="Cambria Math" panose="02040503050406030204" pitchFamily="18" charset="0"/>
                            </a:rPr>
                            <m:t>𝑣</m:t>
                          </m:r>
                        </m:e>
                        <m:sub>
                          <m:r>
                            <a:rPr lang="en-US" sz="1200" b="0" i="1" strike="sngStrike" smtClean="0">
                              <a:latin typeface="Cambria Math" panose="02040503050406030204" pitchFamily="18" charset="0"/>
                            </a:rPr>
                            <m:t>𝑑𝑐</m:t>
                          </m:r>
                        </m:sub>
                        <m:sup>
                          <m:r>
                            <a:rPr lang="en-US" sz="1200" b="0" i="1" strike="sngStrike" smtClean="0">
                              <a:latin typeface="Cambria Math" panose="02040503050406030204" pitchFamily="18" charset="0"/>
                            </a:rPr>
                            <m:t>∗</m:t>
                          </m:r>
                        </m:sup>
                      </m:sSubSup>
                      <m:r>
                        <a:rPr lang="en-US" sz="1200" b="0" i="1" strike="sngStrike" smtClean="0">
                          <a:latin typeface="Cambria Math" panose="02040503050406030204" pitchFamily="18" charset="0"/>
                        </a:rPr>
                        <m:t>−</m:t>
                      </m:r>
                      <m:sSub>
                        <m:sSubPr>
                          <m:ctrlPr>
                            <a:rPr lang="en-US" sz="1200" b="0" i="1" strike="sngStrike" smtClean="0">
                              <a:latin typeface="Cambria Math" panose="02040503050406030204" pitchFamily="18" charset="0"/>
                            </a:rPr>
                          </m:ctrlPr>
                        </m:sSubPr>
                        <m:e>
                          <m:r>
                            <a:rPr lang="en-US" sz="1200" b="0" i="1" strike="sngStrike" smtClean="0">
                              <a:latin typeface="Cambria Math" panose="02040503050406030204" pitchFamily="18" charset="0"/>
                            </a:rPr>
                            <m:t>𝑣</m:t>
                          </m:r>
                        </m:e>
                        <m:sub>
                          <m:r>
                            <a:rPr lang="en-US" sz="1200" b="0" i="1" strike="sngStrike" smtClean="0">
                              <a:latin typeface="Cambria Math" panose="02040503050406030204" pitchFamily="18" charset="0"/>
                            </a:rPr>
                            <m:t>𝑑𝑐</m:t>
                          </m:r>
                        </m:sub>
                      </m:sSub>
                    </m:oMath>
                  </a14:m>
                  <a:endParaRPr lang="en-US" sz="1200" b="0" strike="sngStrike"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𝑒</m:t>
                              </m:r>
                            </m:e>
                          </m:acc>
                        </m:e>
                        <m:sub>
                          <m:r>
                            <a:rPr lang="en-US" sz="1200" b="0" i="1" smtClean="0">
                              <a:latin typeface="Cambria Math" panose="02040503050406030204" pitchFamily="18" charset="0"/>
                            </a:rPr>
                            <m:t>4</m:t>
                          </m:r>
                        </m:sub>
                      </m:sSub>
                      <m:r>
                        <a:rPr lang="en-US" sz="1200" i="1">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𝑖</m:t>
                          </m:r>
                        </m:e>
                        <m:sub>
                          <m:r>
                            <a:rPr lang="en-US" sz="1200" i="1">
                              <a:latin typeface="Cambria Math" panose="02040503050406030204" pitchFamily="18" charset="0"/>
                            </a:rPr>
                            <m:t>𝑑</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𝑑</m:t>
                          </m:r>
                        </m:sub>
                      </m:sSub>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𝑒</m:t>
                              </m:r>
                            </m:e>
                          </m:acc>
                        </m:e>
                        <m:sub>
                          <m:r>
                            <a:rPr lang="en-US" sz="1200" b="0" i="1" smtClean="0">
                              <a:latin typeface="Cambria Math" panose="02040503050406030204" pitchFamily="18" charset="0"/>
                            </a:rPr>
                            <m:t>5</m:t>
                          </m:r>
                        </m:sub>
                      </m:sSub>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𝑖</m:t>
                          </m:r>
                        </m:e>
                        <m:sub>
                          <m:r>
                            <a:rPr lang="en-US" sz="1200" b="0" i="1" smtClean="0">
                              <a:latin typeface="Cambria Math" panose="02040503050406030204" pitchFamily="18" charset="0"/>
                            </a:rPr>
                            <m:t>𝑞</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𝑞</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e>
                      </m:acc>
                      <m:r>
                        <a:rPr lang="en-US" sz="1200" b="0" i="1" smtClean="0">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𝐿</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num>
                        <m:den>
                          <m:r>
                            <a:rPr lang="en-US" sz="1200" b="0" i="1" smtClean="0">
                              <a:latin typeface="Cambria Math" panose="02040503050406030204" pitchFamily="18" charset="0"/>
                            </a:rPr>
                            <m:t>𝐿</m:t>
                          </m:r>
                        </m:den>
                      </m:f>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𝑞</m:t>
                          </m:r>
                        </m:sub>
                      </m:sSub>
                    </m:oMath>
                  </a14:m>
                  <a:endParaRPr lang="en-US" sz="1200" b="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𝑞</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𝐿</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𝑞</m:t>
                              </m:r>
                            </m:sub>
                          </m:sSub>
                        </m:num>
                        <m:den>
                          <m:r>
                            <a:rPr lang="en-US" sz="1200" i="1">
                              <a:latin typeface="Cambria Math" panose="02040503050406030204" pitchFamily="18" charset="0"/>
                            </a:rPr>
                            <m:t>𝐿</m:t>
                          </m:r>
                        </m:den>
                      </m:f>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𝑑</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e>
                      </m:acc>
                      <m:r>
                        <a:rPr lang="en-US" sz="1200" i="1">
                          <a:latin typeface="Cambria Math" panose="02040503050406030204" pitchFamily="18" charset="0"/>
                        </a:rPr>
                        <m:t>=</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b="0" i="1" smtClean="0">
                                  <a:latin typeface="Cambria Math" panose="02040503050406030204" pitchFamily="18" charset="0"/>
                                </a:rPr>
                                <m:t>𝑔</m:t>
                              </m:r>
                              <m:r>
                                <a:rPr lang="en-US" sz="1200" i="1">
                                  <a:latin typeface="Cambria Math" panose="02040503050406030204" pitchFamily="18" charset="0"/>
                                </a:rPr>
                                <m:t>,</m:t>
                              </m:r>
                              <m:r>
                                <a:rPr lang="en-US" sz="1200" i="1">
                                  <a:latin typeface="Cambria Math" panose="02040503050406030204" pitchFamily="18" charset="0"/>
                                </a:rPr>
                                <m:t>𝑑</m:t>
                              </m:r>
                            </m:sub>
                          </m:sSub>
                        </m:num>
                        <m:den>
                          <m:r>
                            <a:rPr lang="en-US" sz="1200" b="0" i="1" smtClean="0">
                              <a:latin typeface="Cambria Math" panose="02040503050406030204" pitchFamily="18" charset="0"/>
                            </a:rPr>
                            <m:t>𝐶</m:t>
                          </m:r>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oMath>
                  </a14:m>
                  <a:endParaRPr lang="en-US" sz="1200" dirty="0"/>
                </a:p>
                <a:p>
                  <a:pPr marL="342900" indent="-342900">
                    <a:buFont typeface="+mj-lt"/>
                    <a:buAutoNum type="arabicPeriod"/>
                  </a:pPr>
                  <a14:m>
                    <m:oMath xmlns:m="http://schemas.openxmlformats.org/officeDocument/2006/math">
                      <m:acc>
                        <m:accPr>
                          <m:chr m:val="̇"/>
                          <m:ctrlPr>
                            <a:rPr lang="en-US" sz="1200" i="1">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𝑞</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𝐿</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𝑔</m:t>
                              </m:r>
                              <m:r>
                                <a:rPr lang="en-US" sz="1200" i="1">
                                  <a:latin typeface="Cambria Math" panose="02040503050406030204" pitchFamily="18" charset="0"/>
                                </a:rPr>
                                <m:t>,</m:t>
                              </m:r>
                              <m:r>
                                <a:rPr lang="en-US" sz="1200" b="0" i="1" smtClean="0">
                                  <a:latin typeface="Cambria Math" panose="02040503050406030204" pitchFamily="18" charset="0"/>
                                </a:rPr>
                                <m:t>𝑞</m:t>
                              </m:r>
                            </m:sub>
                          </m:sSub>
                        </m:num>
                        <m:den>
                          <m:r>
                            <a:rPr lang="en-US" sz="1200" b="0" i="1" smtClean="0">
                              <a:latin typeface="Cambria Math" panose="02040503050406030204" pitchFamily="18" charset="0"/>
                            </a:rPr>
                            <m:t>𝐶</m:t>
                          </m:r>
                        </m:den>
                      </m:f>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i="1">
                              <a:latin typeface="Cambria Math" panose="02040503050406030204" pitchFamily="18" charset="0"/>
                            </a:rPr>
                            <m:t>,</m:t>
                          </m:r>
                          <m:r>
                            <a:rPr lang="en-US" sz="1200" i="1">
                              <a:latin typeface="Cambria Math" panose="02040503050406030204" pitchFamily="18" charset="0"/>
                            </a:rPr>
                            <m:t>𝑑</m:t>
                          </m:r>
                        </m:sub>
                      </m:sSub>
                    </m:oMath>
                  </a14:m>
                  <a:endParaRPr lang="en-US" sz="1200" dirty="0"/>
                </a:p>
                <a:p>
                  <a:pPr marL="342900" indent="-342900">
                    <a:buFont typeface="+mj-lt"/>
                    <a:buAutoNum type="arabicPeriod"/>
                  </a:pPr>
                  <a:endParaRPr lang="en-US" sz="1200" dirty="0"/>
                </a:p>
                <a:p>
                  <a:pPr marL="342900" indent="-342900">
                    <a:buFont typeface="+mj-lt"/>
                    <a:buAutoNum type="arabicPeriod"/>
                  </a:pPr>
                  <a14:m>
                    <m:oMath xmlns:m="http://schemas.openxmlformats.org/officeDocument/2006/math">
                      <m:acc>
                        <m:accPr>
                          <m:chr m:val="̇"/>
                          <m:ctrlPr>
                            <a:rPr lang="en-US" sz="1200" i="1" smtClean="0">
                              <a:latin typeface="Cambria Math" panose="02040503050406030204" pitchFamily="18" charset="0"/>
                            </a:rPr>
                          </m:ctrlPr>
                        </m:accPr>
                        <m:e>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𝑑𝑐</m:t>
                              </m:r>
                            </m:sub>
                          </m:sSub>
                        </m:e>
                      </m:acc>
                      <m:r>
                        <a:rPr lang="en-US" sz="1200" i="1">
                          <a:latin typeface="Cambria Math" panose="02040503050406030204" pitchFamily="18" charset="0"/>
                        </a:rPr>
                        <m:t>=</m:t>
                      </m:r>
                      <m:f>
                        <m:fPr>
                          <m:ctrlPr>
                            <a:rPr lang="en-US" sz="1200" i="1">
                              <a:latin typeface="Cambria Math" panose="02040503050406030204" pitchFamily="18" charset="0"/>
                            </a:rPr>
                          </m:ctrlPr>
                        </m:fPr>
                        <m:num>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𝑜</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𝑑𝑐</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𝑅</m:t>
                              </m:r>
                            </m:e>
                            <m:sub>
                              <m:r>
                                <a:rPr lang="en-US" sz="1200" i="1">
                                  <a:latin typeface="Cambria Math" panose="02040503050406030204" pitchFamily="18" charset="0"/>
                                </a:rPr>
                                <m:t>𝐿</m:t>
                              </m:r>
                              <m:r>
                                <a:rPr lang="en-US" sz="1200" i="1">
                                  <a:latin typeface="Cambria Math" panose="02040503050406030204" pitchFamily="18" charset="0"/>
                                </a:rPr>
                                <m:t>,</m:t>
                              </m:r>
                              <m:r>
                                <a:rPr lang="en-US" sz="1200" i="1">
                                  <a:latin typeface="Cambria Math" panose="02040503050406030204" pitchFamily="18" charset="0"/>
                                </a:rPr>
                                <m:t>𝑑𝑐</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𝑖</m:t>
                              </m:r>
                            </m:e>
                            <m:sub>
                              <m:r>
                                <a:rPr lang="en-US" sz="1200" i="1">
                                  <a:latin typeface="Cambria Math" panose="02040503050406030204" pitchFamily="18" charset="0"/>
                                </a:rPr>
                                <m:t>𝑑𝑐</m:t>
                              </m:r>
                            </m:sub>
                          </m:sSub>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𝐿</m:t>
                              </m:r>
                            </m:e>
                            <m:sub>
                              <m:r>
                                <a:rPr lang="en-US" sz="1200" b="0" i="1" smtClean="0">
                                  <a:latin typeface="Cambria Math" panose="02040503050406030204" pitchFamily="18" charset="0"/>
                                </a:rPr>
                                <m:t>𝑑𝑐</m:t>
                              </m:r>
                            </m:sub>
                          </m:sSub>
                        </m:den>
                      </m:f>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r>
                            <a:rPr lang="en-US" sz="1200" b="0" i="1" smtClean="0">
                              <a:latin typeface="Cambria Math" panose="02040503050406030204" pitchFamily="18" charset="0"/>
                            </a:rPr>
                            <m:t>1</m:t>
                          </m:r>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𝐶</m:t>
                              </m:r>
                            </m:e>
                            <m:sub>
                              <m:r>
                                <a:rPr lang="en-US" sz="1200" b="0" i="1" smtClean="0">
                                  <a:latin typeface="Cambria Math" panose="02040503050406030204" pitchFamily="18" charset="0"/>
                                </a:rPr>
                                <m:t>𝑑𝑐</m:t>
                              </m:r>
                            </m:sub>
                          </m:sSub>
                        </m:den>
                      </m:f>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𝑠ℎ</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𝑏</m:t>
                              </m:r>
                            </m:sub>
                          </m:sSub>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𝑐</m:t>
                          </m:r>
                        </m:sub>
                      </m:sSub>
                      <m:d>
                        <m:dPr>
                          <m:ctrlPr>
                            <a:rPr lang="en-US" sz="1200" b="0" i="1" smtClean="0">
                              <a:latin typeface="Cambria Math" panose="02040503050406030204" pitchFamily="18" charset="0"/>
                            </a:rPr>
                          </m:ctrlPr>
                        </m:dPr>
                        <m:e>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e>
                      </m:d>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r>
                            <a:rPr lang="en-US" sz="1200" b="0" i="1" smtClean="0">
                              <a:latin typeface="Cambria Math" panose="02040503050406030204" pitchFamily="18" charset="0"/>
                            </a:rPr>
                            <m:t> </m:t>
                          </m:r>
                        </m:sub>
                      </m:sSub>
                      <m:r>
                        <a:rPr lang="en-US" sz="1200" b="0" i="1" smtClean="0">
                          <a:latin typeface="Cambria Math" panose="02040503050406030204" pitchFamily="18" charset="0"/>
                        </a:rPr>
                        <m:t>]</m:t>
                      </m:r>
                    </m:oMath>
                  </a14:m>
                  <a:endParaRPr lang="en-US" sz="1200" dirty="0"/>
                </a:p>
              </p:txBody>
            </p:sp>
          </mc:Choice>
          <mc:Fallback xmlns="">
            <p:sp>
              <p:nvSpPr>
                <p:cNvPr id="4" name="TextBox 3">
                  <a:extLst>
                    <a:ext uri="{FF2B5EF4-FFF2-40B4-BE49-F238E27FC236}">
                      <a16:creationId xmlns:a16="http://schemas.microsoft.com/office/drawing/2014/main" id="{A811ECB9-24F9-6724-8602-1A3D14B4C057}"/>
                    </a:ext>
                  </a:extLst>
                </p:cNvPr>
                <p:cNvSpPr txBox="1">
                  <a:spLocks noRot="1" noChangeAspect="1" noMove="1" noResize="1" noEditPoints="1" noAdjustHandles="1" noChangeArrowheads="1" noChangeShapeType="1" noTextEdit="1"/>
                </p:cNvSpPr>
                <p:nvPr/>
              </p:nvSpPr>
              <p:spPr>
                <a:xfrm>
                  <a:off x="609600" y="938381"/>
                  <a:ext cx="5486400" cy="5438772"/>
                </a:xfrm>
                <a:prstGeom prst="rect">
                  <a:avLst/>
                </a:prstGeom>
                <a:blipFill>
                  <a:blip r:embed="rId2"/>
                  <a:stretch>
                    <a:fillRect l="-2283" t="-115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56B9A346-2583-3836-699F-C1F88B35F2D2}"/>
                    </a:ext>
                  </a:extLst>
                </p:cNvPr>
                <p:cNvSpPr txBox="1"/>
                <p:nvPr/>
              </p:nvSpPr>
              <p:spPr>
                <a:xfrm>
                  <a:off x="6053725" y="768915"/>
                  <a:ext cx="4090202" cy="5571619"/>
                </a:xfrm>
                <a:prstGeom prst="rect">
                  <a:avLst/>
                </a:prstGeom>
                <a:noFill/>
              </p:spPr>
              <p:txBody>
                <a:bodyPr wrap="none" lIns="0" tIns="0" rIns="0" bIns="0" rtlCol="0">
                  <a:spAutoFit/>
                </a:bodyPr>
                <a:lstStyle/>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2</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𝑞</m:t>
                          </m:r>
                        </m:sub>
                      </m:sSub>
                    </m:oMath>
                  </a14:m>
                  <a:endParaRPr lang="en-US" sz="1200" b="0" i="1" dirty="0">
                    <a:latin typeface="Cambria Math" panose="02040503050406030204" pitchFamily="18" charset="0"/>
                  </a:endParaRPr>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b="0" i="1" smtClean="0">
                              <a:latin typeface="Cambria Math" panose="02040503050406030204" pitchFamily="18" charset="0"/>
                            </a:rPr>
                            <m:t>𝜃</m:t>
                          </m:r>
                        </m:e>
                      </m:func>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𝐶</m:t>
                          </m:r>
                          <m:r>
                            <a:rPr lang="en-US" sz="1200" i="1">
                              <a:latin typeface="Cambria Math" panose="02040503050406030204" pitchFamily="18" charset="0"/>
                            </a:rPr>
                            <m:t>,</m:t>
                          </m:r>
                          <m:r>
                            <a:rPr lang="en-US" sz="1200" b="0" i="1" smtClean="0">
                              <a:latin typeface="Cambria Math" panose="02040503050406030204" pitchFamily="18" charset="0"/>
                            </a:rPr>
                            <m:t>𝑞</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i="1">
                              <a:latin typeface="Cambria Math" panose="02040503050406030204" pitchFamily="18" charset="0"/>
                            </a:rPr>
                            <m:t>,</m:t>
                          </m:r>
                          <m:r>
                            <a:rPr lang="en-US" sz="1200" i="1">
                              <a:latin typeface="Cambria Math" panose="02040503050406030204" pitchFamily="18" charset="0"/>
                            </a:rPr>
                            <m:t>𝑑</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r>
                            <a:rPr lang="en-US" sz="1200" b="0" i="1" smtClean="0">
                              <a:latin typeface="Cambria Math" panose="02040503050406030204" pitchFamily="18" charset="0"/>
                            </a:rPr>
                            <m:t>,</m:t>
                          </m:r>
                          <m:r>
                            <a:rPr lang="en-US" sz="1200" b="0" i="1" smtClean="0">
                              <a:latin typeface="Cambria Math" panose="02040503050406030204" pitchFamily="18" charset="0"/>
                            </a:rPr>
                            <m:t>𝑞</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i="1" smtClean="0">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𝑣</m:t>
                              </m:r>
                            </m:e>
                          </m:acc>
                        </m:e>
                        <m:sub>
                          <m:r>
                            <a:rPr lang="en-US" sz="1200" b="0" i="1" smtClean="0">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𝛼</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b="0" i="1" smtClean="0">
                              <a:latin typeface="Cambria Math" panose="02040503050406030204" pitchFamily="18" charset="0"/>
                            </a:rPr>
                            <m:t>𝜃</m:t>
                          </m:r>
                        </m:e>
                      </m:func>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𝛽</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b="0" i="1" smtClean="0">
                              <a:latin typeface="Cambria Math" panose="02040503050406030204" pitchFamily="18" charset="0"/>
                            </a:rPr>
                            <m:t>𝜃</m:t>
                          </m:r>
                        </m:e>
                      </m:func>
                    </m:oMath>
                  </a14:m>
                  <a:endParaRPr lang="en-US" sz="1200" b="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𝑣</m:t>
                              </m:r>
                            </m:e>
                          </m:acc>
                        </m:e>
                        <m:sub>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𝛼</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i="1">
                              <a:latin typeface="Cambria Math" panose="02040503050406030204" pitchFamily="18" charset="0"/>
                            </a:rPr>
                            <m:t>𝜃</m:t>
                          </m:r>
                        </m:e>
                      </m:func>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𝛽</m:t>
                          </m:r>
                        </m:sub>
                      </m:sSub>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𝑖</m:t>
                              </m:r>
                            </m:e>
                          </m:acc>
                        </m:e>
                        <m:sub>
                          <m:r>
                            <a:rPr lang="en-US" sz="1200" i="1">
                              <a:latin typeface="Cambria Math" panose="02040503050406030204" pitchFamily="18" charset="0"/>
                            </a:rPr>
                            <m:t>𝑑</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𝛽</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𝑖</m:t>
                              </m:r>
                            </m:e>
                          </m:acc>
                        </m:e>
                        <m:sub>
                          <m:r>
                            <a:rPr lang="en-US" sz="1200" i="1">
                              <a:latin typeface="Cambria Math" panose="02040503050406030204" pitchFamily="18" charset="0"/>
                            </a:rPr>
                            <m:t>𝑞</m:t>
                          </m:r>
                        </m:sub>
                      </m:sSub>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𝛼</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r>
                        <a:rPr lang="en-US" sz="1200" i="1">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i="1">
                              <a:latin typeface="Cambria Math" panose="02040503050406030204" pitchFamily="18" charset="0"/>
                            </a:rPr>
                            <m:t>𝛽</m:t>
                          </m:r>
                        </m:sub>
                      </m:sSub>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Sup>
                        <m:sSubSupPr>
                          <m:ctrlPr>
                            <a:rPr lang="en-US" sz="1200" b="0" i="1" strike="sngStrike" smtClean="0">
                              <a:latin typeface="Cambria Math" panose="02040503050406030204" pitchFamily="18" charset="0"/>
                            </a:rPr>
                          </m:ctrlPr>
                        </m:sSubSupPr>
                        <m:e>
                          <m:r>
                            <a:rPr lang="en-US" sz="1200" b="0" i="1" strike="sngStrike" smtClean="0">
                              <a:latin typeface="Cambria Math" panose="02040503050406030204" pitchFamily="18" charset="0"/>
                            </a:rPr>
                            <m:t>𝑖</m:t>
                          </m:r>
                        </m:e>
                        <m:sub>
                          <m:r>
                            <a:rPr lang="en-US" sz="1200" b="0" i="1" strike="sngStrike" smtClean="0">
                              <a:latin typeface="Cambria Math" panose="02040503050406030204" pitchFamily="18" charset="0"/>
                            </a:rPr>
                            <m:t>𝑑</m:t>
                          </m:r>
                        </m:sub>
                        <m:sup>
                          <m:r>
                            <a:rPr lang="en-US" sz="1200" b="0" i="1" strike="sngStrike" smtClean="0">
                              <a:latin typeface="Cambria Math" panose="02040503050406030204" pitchFamily="18" charset="0"/>
                            </a:rPr>
                            <m:t>∗</m:t>
                          </m:r>
                        </m:sup>
                      </m:sSubSup>
                      <m:r>
                        <a:rPr lang="en-US" sz="1200" b="0" i="1" strike="sngStrike" smtClean="0">
                          <a:latin typeface="Cambria Math" panose="02040503050406030204" pitchFamily="18" charset="0"/>
                        </a:rPr>
                        <m:t>=−</m:t>
                      </m:r>
                      <m:sSub>
                        <m:sSubPr>
                          <m:ctrlPr>
                            <a:rPr lang="en-US" sz="1200" b="0" i="1" strike="sngStrike" smtClean="0">
                              <a:latin typeface="Cambria Math" panose="02040503050406030204" pitchFamily="18" charset="0"/>
                            </a:rPr>
                          </m:ctrlPr>
                        </m:sSubPr>
                        <m:e>
                          <m:r>
                            <a:rPr lang="en-US" sz="1200" b="0" i="1" strike="sngStrike" smtClean="0">
                              <a:latin typeface="Cambria Math" panose="02040503050406030204" pitchFamily="18" charset="0"/>
                            </a:rPr>
                            <m:t>𝑘</m:t>
                          </m:r>
                        </m:e>
                        <m:sub>
                          <m:r>
                            <a:rPr lang="en-US" sz="1200" b="0" i="1" strike="sngStrike" smtClean="0">
                              <a:latin typeface="Cambria Math" panose="02040503050406030204" pitchFamily="18" charset="0"/>
                            </a:rPr>
                            <m:t>3</m:t>
                          </m:r>
                        </m:sub>
                      </m:sSub>
                      <m:d>
                        <m:dPr>
                          <m:ctrlPr>
                            <a:rPr lang="en-US" sz="1200" b="0" i="1" strike="sngStrike" smtClean="0">
                              <a:latin typeface="Cambria Math" panose="02040503050406030204" pitchFamily="18" charset="0"/>
                            </a:rPr>
                          </m:ctrlPr>
                        </m:dPr>
                        <m:e>
                          <m:sSubSup>
                            <m:sSubSupPr>
                              <m:ctrlPr>
                                <a:rPr lang="en-US" sz="1200" b="0" i="1" strike="sngStrike" smtClean="0">
                                  <a:latin typeface="Cambria Math" panose="02040503050406030204" pitchFamily="18" charset="0"/>
                                </a:rPr>
                              </m:ctrlPr>
                            </m:sSubSupPr>
                            <m:e>
                              <m:r>
                                <a:rPr lang="en-US" sz="1200" b="0" i="1" strike="sngStrike" smtClean="0">
                                  <a:latin typeface="Cambria Math" panose="02040503050406030204" pitchFamily="18" charset="0"/>
                                </a:rPr>
                                <m:t>𝑣</m:t>
                              </m:r>
                            </m:e>
                            <m:sub>
                              <m:r>
                                <a:rPr lang="en-US" sz="1200" b="0" i="1" strike="sngStrike" smtClean="0">
                                  <a:latin typeface="Cambria Math" panose="02040503050406030204" pitchFamily="18" charset="0"/>
                                </a:rPr>
                                <m:t>𝑑𝑐</m:t>
                              </m:r>
                            </m:sub>
                            <m:sup>
                              <m:r>
                                <a:rPr lang="en-US" sz="1200" b="0" i="1" strike="sngStrike" smtClean="0">
                                  <a:latin typeface="Cambria Math" panose="02040503050406030204" pitchFamily="18" charset="0"/>
                                </a:rPr>
                                <m:t>∗</m:t>
                              </m:r>
                            </m:sup>
                          </m:sSubSup>
                          <m:r>
                            <a:rPr lang="en-US" sz="1200" b="0" i="1" strike="sngStrike" smtClean="0">
                              <a:latin typeface="Cambria Math" panose="02040503050406030204" pitchFamily="18" charset="0"/>
                            </a:rPr>
                            <m:t>−</m:t>
                          </m:r>
                          <m:sSub>
                            <m:sSubPr>
                              <m:ctrlPr>
                                <a:rPr lang="en-US" sz="1200" b="0" i="1" strike="sngStrike" smtClean="0">
                                  <a:latin typeface="Cambria Math" panose="02040503050406030204" pitchFamily="18" charset="0"/>
                                </a:rPr>
                              </m:ctrlPr>
                            </m:sSubPr>
                            <m:e>
                              <m:r>
                                <a:rPr lang="en-US" sz="1200" b="0" i="1" strike="sngStrike" smtClean="0">
                                  <a:latin typeface="Cambria Math" panose="02040503050406030204" pitchFamily="18" charset="0"/>
                                </a:rPr>
                                <m:t>𝑣</m:t>
                              </m:r>
                            </m:e>
                            <m:sub>
                              <m:r>
                                <a:rPr lang="en-US" sz="1200" b="0" i="1" strike="sngStrike" smtClean="0">
                                  <a:latin typeface="Cambria Math" panose="02040503050406030204" pitchFamily="18" charset="0"/>
                                </a:rPr>
                                <m:t>𝑑𝑐</m:t>
                              </m:r>
                            </m:sub>
                          </m:sSub>
                        </m:e>
                      </m:d>
                      <m:r>
                        <a:rPr lang="en-US" sz="1200" b="0" i="1" strike="sngStrike" smtClean="0">
                          <a:latin typeface="Cambria Math" panose="02040503050406030204" pitchFamily="18" charset="0"/>
                        </a:rPr>
                        <m:t>−</m:t>
                      </m:r>
                      <m:sSub>
                        <m:sSubPr>
                          <m:ctrlPr>
                            <a:rPr lang="en-US" sz="1200" b="0" i="1" strike="sngStrike" smtClean="0">
                              <a:latin typeface="Cambria Math" panose="02040503050406030204" pitchFamily="18" charset="0"/>
                            </a:rPr>
                          </m:ctrlPr>
                        </m:sSubPr>
                        <m:e>
                          <m:r>
                            <a:rPr lang="en-US" sz="1200" b="0" i="1" strike="sngStrike" smtClean="0">
                              <a:latin typeface="Cambria Math" panose="02040503050406030204" pitchFamily="18" charset="0"/>
                            </a:rPr>
                            <m:t>𝑘</m:t>
                          </m:r>
                        </m:e>
                        <m:sub>
                          <m:r>
                            <a:rPr lang="en-US" sz="1200" b="0" i="1" strike="sngStrike" smtClean="0">
                              <a:latin typeface="Cambria Math" panose="02040503050406030204" pitchFamily="18" charset="0"/>
                            </a:rPr>
                            <m:t>4</m:t>
                          </m:r>
                        </m:sub>
                      </m:sSub>
                      <m:sSub>
                        <m:sSubPr>
                          <m:ctrlPr>
                            <a:rPr lang="en-US" sz="1200" b="0" i="1" strike="sngStrike" smtClean="0">
                              <a:latin typeface="Cambria Math" panose="02040503050406030204" pitchFamily="18" charset="0"/>
                            </a:rPr>
                          </m:ctrlPr>
                        </m:sSubPr>
                        <m:e>
                          <m:r>
                            <a:rPr lang="en-US" sz="1200" b="0" i="1" strike="sngStrike" smtClean="0">
                              <a:latin typeface="Cambria Math" panose="02040503050406030204" pitchFamily="18" charset="0"/>
                            </a:rPr>
                            <m:t>𝑒</m:t>
                          </m:r>
                        </m:e>
                        <m:sub>
                          <m:r>
                            <a:rPr lang="en-US" sz="1200" b="0" i="1" strike="sngStrike" smtClean="0">
                              <a:latin typeface="Cambria Math" panose="02040503050406030204" pitchFamily="18" charset="0"/>
                            </a:rPr>
                            <m:t>3</m:t>
                          </m:r>
                        </m:sub>
                      </m:sSub>
                    </m:oMath>
                  </a14:m>
                  <a:endParaRPr lang="en-US" sz="1200" b="0" strike="sngStrike" dirty="0"/>
                </a:p>
                <a:p>
                  <a:pPr marL="342900" indent="-342900">
                    <a:buFont typeface="+mj-lt"/>
                    <a:buAutoNum type="arabicPeriod"/>
                  </a:pPr>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𝑃𝐼</m:t>
                          </m:r>
                          <m:r>
                            <a:rPr lang="en-US" sz="1200" b="0" i="1" smtClean="0">
                              <a:latin typeface="Cambria Math" panose="02040503050406030204" pitchFamily="18" charset="0"/>
                            </a:rPr>
                            <m:t>,</m:t>
                          </m:r>
                          <m:r>
                            <a:rPr lang="en-US" sz="1200" b="0" i="1" smtClean="0">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5</m:t>
                          </m:r>
                        </m:sub>
                      </m:sSub>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𝑒</m:t>
                          </m:r>
                        </m:e>
                        <m:sub>
                          <m:r>
                            <a:rPr lang="en-US" sz="1200" b="0" i="1" smtClean="0">
                              <a:latin typeface="Cambria Math" panose="02040503050406030204" pitchFamily="18" charset="0"/>
                            </a:rPr>
                            <m:t>4</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𝑘</m:t>
                          </m:r>
                        </m:e>
                        <m:sub>
                          <m:r>
                            <a:rPr lang="en-US" sz="1200" b="0" i="1" smtClean="0">
                              <a:latin typeface="Cambria Math" panose="02040503050406030204" pitchFamily="18" charset="0"/>
                            </a:rPr>
                            <m:t>6</m:t>
                          </m:r>
                        </m:sub>
                      </m:sSub>
                      <m:r>
                        <a:rPr lang="en-US" sz="1200" b="0" i="1" smtClean="0">
                          <a:latin typeface="Cambria Math" panose="02040503050406030204" pitchFamily="18" charset="0"/>
                        </a:rPr>
                        <m:t>(</m:t>
                      </m:r>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𝑖</m:t>
                          </m:r>
                        </m:e>
                        <m:sub>
                          <m:r>
                            <a:rPr lang="en-US" sz="1200" b="0" i="1" smtClean="0">
                              <a:latin typeface="Cambria Math" panose="02040503050406030204" pitchFamily="18" charset="0"/>
                            </a:rPr>
                            <m:t>𝑑</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𝑑</m:t>
                          </m:r>
                        </m:sub>
                      </m:sSub>
                      <m:r>
                        <a:rPr lang="en-US" sz="1200" b="0" i="1" smtClean="0">
                          <a:latin typeface="Cambria Math" panose="02040503050406030204" pitchFamily="18" charset="0"/>
                        </a:rPr>
                        <m:t>)</m:t>
                      </m:r>
                    </m:oMath>
                  </a14:m>
                  <a:endParaRPr lang="en-US" sz="120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𝑃𝐼</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𝑘</m:t>
                          </m:r>
                        </m:e>
                        <m:sub>
                          <m:r>
                            <a:rPr lang="en-US" sz="1200" b="0" i="1" smtClean="0">
                              <a:latin typeface="Cambria Math" panose="02040503050406030204" pitchFamily="18" charset="0"/>
                            </a:rPr>
                            <m:t>7</m:t>
                          </m:r>
                        </m:sub>
                      </m:sSub>
                      <m:sSub>
                        <m:sSubPr>
                          <m:ctrlPr>
                            <a:rPr lang="en-US" sz="1200" i="1">
                              <a:latin typeface="Cambria Math" panose="02040503050406030204" pitchFamily="18" charset="0"/>
                            </a:rPr>
                          </m:ctrlPr>
                        </m:sSubPr>
                        <m:e>
                          <m:r>
                            <a:rPr lang="en-US" sz="1200" i="1">
                              <a:latin typeface="Cambria Math" panose="02040503050406030204" pitchFamily="18" charset="0"/>
                            </a:rPr>
                            <m:t>𝑒</m:t>
                          </m:r>
                        </m:e>
                        <m:sub>
                          <m:r>
                            <a:rPr lang="en-US" sz="1200" b="0" i="1" smtClean="0">
                              <a:latin typeface="Cambria Math" panose="02040503050406030204" pitchFamily="18" charset="0"/>
                            </a:rPr>
                            <m:t>5</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𝑘</m:t>
                          </m:r>
                        </m:e>
                        <m:sub>
                          <m:r>
                            <a:rPr lang="en-US" sz="1200" b="0" i="1" smtClean="0">
                              <a:latin typeface="Cambria Math" panose="02040503050406030204" pitchFamily="18" charset="0"/>
                            </a:rPr>
                            <m:t>8</m:t>
                          </m:r>
                        </m:sub>
                      </m:sSub>
                      <m:d>
                        <m:dPr>
                          <m:ctrlPr>
                            <a:rPr lang="en-US" sz="1200" i="1">
                              <a:latin typeface="Cambria Math" panose="02040503050406030204" pitchFamily="18" charset="0"/>
                            </a:rPr>
                          </m:ctrlPr>
                        </m:dPr>
                        <m:e>
                          <m:sSubSup>
                            <m:sSubSupPr>
                              <m:ctrlPr>
                                <a:rPr lang="en-US" sz="1200" i="1">
                                  <a:latin typeface="Cambria Math" panose="02040503050406030204" pitchFamily="18" charset="0"/>
                                </a:rPr>
                              </m:ctrlPr>
                            </m:sSubSupPr>
                            <m:e>
                              <m:r>
                                <a:rPr lang="en-US" sz="1200" i="1">
                                  <a:latin typeface="Cambria Math" panose="02040503050406030204" pitchFamily="18" charset="0"/>
                                </a:rPr>
                                <m:t>𝑖</m:t>
                              </m:r>
                            </m:e>
                            <m:sub>
                              <m:r>
                                <a:rPr lang="en-US" sz="1200" b="0" i="1" smtClean="0">
                                  <a:latin typeface="Cambria Math" panose="02040503050406030204" pitchFamily="18" charset="0"/>
                                </a:rPr>
                                <m:t>𝑞</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𝑞</m:t>
                              </m:r>
                            </m:sub>
                          </m:sSub>
                        </m:e>
                      </m:d>
                    </m:oMath>
                  </a14:m>
                  <a:endParaRPr lang="en-US" sz="1200" dirty="0"/>
                </a:p>
                <a:p>
                  <a:pPr marL="342900" indent="-342900">
                    <a:buFont typeface="+mj-lt"/>
                    <a:buAutoNum type="arabicPeriod"/>
                  </a:pPr>
                  <a14:m>
                    <m:oMath xmlns:m="http://schemas.openxmlformats.org/officeDocument/2006/math">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𝑣</m:t>
                          </m:r>
                        </m:e>
                        <m:sub>
                          <m:r>
                            <a:rPr lang="en-US" sz="1200" b="0" i="1" smtClean="0">
                              <a:latin typeface="Cambria Math" panose="02040503050406030204" pitchFamily="18" charset="0"/>
                            </a:rPr>
                            <m:t>𝑐𝑜𝑛𝑣</m:t>
                          </m:r>
                          <m:r>
                            <a:rPr lang="en-US" sz="1200" b="0" i="1" smtClean="0">
                              <a:latin typeface="Cambria Math" panose="02040503050406030204" pitchFamily="18" charset="0"/>
                            </a:rPr>
                            <m:t>,</m:t>
                          </m:r>
                          <m:r>
                            <a:rPr lang="en-US" sz="1200" b="0" i="1" smtClean="0">
                              <a:latin typeface="Cambria Math" panose="02040503050406030204" pitchFamily="18" charset="0"/>
                            </a:rPr>
                            <m:t>𝑑</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𝑃𝐼</m:t>
                          </m:r>
                          <m:r>
                            <a:rPr lang="en-US" sz="1200" i="1">
                              <a:latin typeface="Cambria Math" panose="02040503050406030204" pitchFamily="18" charset="0"/>
                            </a:rPr>
                            <m:t>,</m:t>
                          </m:r>
                          <m:r>
                            <a:rPr lang="en-US" sz="1200" i="1">
                              <a:latin typeface="Cambria Math" panose="02040503050406030204" pitchFamily="18" charset="0"/>
                            </a:rPr>
                            <m:t>𝑑</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𝐿</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i="1">
                              <a:latin typeface="Cambria Math" panose="02040503050406030204" pitchFamily="18" charset="0"/>
                            </a:rPr>
                            <m:t>𝑞</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m:t>
                          </m:r>
                          <m:r>
                            <a:rPr lang="en-US" sz="1200" b="0" i="1" smtClean="0">
                              <a:latin typeface="Cambria Math" panose="02040503050406030204" pitchFamily="18" charset="0"/>
                            </a:rPr>
                            <m:t>,</m:t>
                          </m:r>
                          <m:r>
                            <a:rPr lang="en-US" sz="1200" b="0" i="1" smtClean="0">
                              <a:latin typeface="Cambria Math" panose="02040503050406030204" pitchFamily="18" charset="0"/>
                            </a:rPr>
                            <m:t>𝑓𝑓</m:t>
                          </m:r>
                        </m:sub>
                      </m:sSub>
                    </m:oMath>
                  </a14:m>
                  <a:endParaRPr lang="en-US" sz="120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𝑞</m:t>
                          </m:r>
                        </m:sub>
                        <m:sup>
                          <m:r>
                            <a:rPr lang="en-US" sz="1200" i="1">
                              <a:latin typeface="Cambria Math" panose="02040503050406030204" pitchFamily="18" charset="0"/>
                            </a:rPr>
                            <m:t>∗</m:t>
                          </m:r>
                        </m:sup>
                      </m:sSubSup>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i="1">
                              <a:latin typeface="Cambria Math" panose="02040503050406030204" pitchFamily="18" charset="0"/>
                            </a:rPr>
                            <m:t>𝑃𝐼</m:t>
                          </m:r>
                          <m:r>
                            <a:rPr lang="en-US" sz="1200" i="1">
                              <a:latin typeface="Cambria Math" panose="02040503050406030204" pitchFamily="18" charset="0"/>
                            </a:rPr>
                            <m:t>,</m:t>
                          </m:r>
                          <m:r>
                            <a:rPr lang="en-US" sz="1200" b="0" i="1" smtClean="0">
                              <a:latin typeface="Cambria Math" panose="02040503050406030204" pitchFamily="18" charset="0"/>
                            </a:rPr>
                            <m:t>𝑞</m:t>
                          </m:r>
                        </m:sub>
                      </m:sSub>
                      <m:r>
                        <a:rPr lang="en-US" sz="1200" b="0" i="1" smtClean="0">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𝜔</m:t>
                          </m:r>
                        </m:e>
                        <m:sub>
                          <m:r>
                            <a:rPr lang="en-US" sz="1200" i="1">
                              <a:latin typeface="Cambria Math" panose="02040503050406030204" pitchFamily="18" charset="0"/>
                            </a:rPr>
                            <m:t>0</m:t>
                          </m:r>
                        </m:sub>
                      </m:sSub>
                      <m:r>
                        <a:rPr lang="en-US" sz="1200" i="1">
                          <a:latin typeface="Cambria Math" panose="02040503050406030204" pitchFamily="18" charset="0"/>
                        </a:rPr>
                        <m:t>𝐿</m:t>
                      </m:r>
                      <m:sSub>
                        <m:sSubPr>
                          <m:ctrlPr>
                            <a:rPr lang="en-US" sz="1200" i="1">
                              <a:latin typeface="Cambria Math" panose="02040503050406030204" pitchFamily="18" charset="0"/>
                            </a:rPr>
                          </m:ctrlPr>
                        </m:sSubPr>
                        <m:e>
                          <m:acc>
                            <m:accPr>
                              <m:chr m:val="̂"/>
                              <m:ctrlPr>
                                <a:rPr lang="en-US" sz="1200" i="1">
                                  <a:latin typeface="Cambria Math" panose="02040503050406030204" pitchFamily="18" charset="0"/>
                                </a:rPr>
                              </m:ctrlPr>
                            </m:accPr>
                            <m:e>
                              <m:r>
                                <a:rPr lang="en-US" sz="1200" i="1">
                                  <a:latin typeface="Cambria Math" panose="02040503050406030204" pitchFamily="18" charset="0"/>
                                </a:rPr>
                                <m:t>𝑖</m:t>
                              </m:r>
                            </m:e>
                          </m:acc>
                        </m:e>
                        <m:sub>
                          <m:r>
                            <a:rPr lang="en-US" sz="1200" b="0" i="1" smtClean="0">
                              <a:latin typeface="Cambria Math" panose="02040503050406030204" pitchFamily="18" charset="0"/>
                            </a:rPr>
                            <m:t>𝑑</m:t>
                          </m:r>
                        </m:sub>
                      </m:sSub>
                      <m:r>
                        <a:rPr lang="en-US" sz="1200" i="1">
                          <a:latin typeface="Cambria Math" panose="02040503050406030204" pitchFamily="18" charset="0"/>
                        </a:rPr>
                        <m:t>+</m:t>
                      </m:r>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𝑞</m:t>
                          </m:r>
                          <m:r>
                            <a:rPr lang="en-US" sz="1200" i="1">
                              <a:latin typeface="Cambria Math" panose="02040503050406030204" pitchFamily="18" charset="0"/>
                            </a:rPr>
                            <m:t>,</m:t>
                          </m:r>
                          <m:r>
                            <a:rPr lang="en-US" sz="1200" i="1">
                              <a:latin typeface="Cambria Math" panose="02040503050406030204" pitchFamily="18" charset="0"/>
                            </a:rPr>
                            <m:t>𝑓𝑓</m:t>
                          </m:r>
                        </m:sub>
                      </m:sSub>
                    </m:oMath>
                  </a14:m>
                  <a:endParaRPr lang="en-US" sz="120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𝛼</m:t>
                          </m:r>
                        </m:sub>
                        <m:sup>
                          <m:r>
                            <a:rPr lang="en-US" sz="1200" i="1">
                              <a:latin typeface="Cambria Math" panose="02040503050406030204" pitchFamily="18" charset="0"/>
                            </a:rPr>
                            <m:t>∗</m:t>
                          </m:r>
                        </m:sup>
                      </m:sSubSup>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𝑑</m:t>
                          </m:r>
                        </m:sub>
                        <m:sup>
                          <m:r>
                            <a:rPr lang="en-US" sz="1200" i="1">
                              <a:latin typeface="Cambria Math" panose="02040503050406030204" pitchFamily="18" charset="0"/>
                            </a:rPr>
                            <m:t>∗</m:t>
                          </m:r>
                        </m:sup>
                      </m:sSubSup>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sin</m:t>
                          </m:r>
                        </m:fName>
                        <m:e>
                          <m:r>
                            <a:rPr lang="en-US" sz="1200" i="1">
                              <a:latin typeface="Cambria Math" panose="02040503050406030204" pitchFamily="18" charset="0"/>
                            </a:rPr>
                            <m:t>𝜃</m:t>
                          </m:r>
                        </m:e>
                      </m:func>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𝑞</m:t>
                          </m:r>
                        </m:sub>
                        <m:sup>
                          <m:r>
                            <a:rPr lang="en-US" sz="1200" i="1">
                              <a:latin typeface="Cambria Math" panose="02040503050406030204" pitchFamily="18" charset="0"/>
                            </a:rPr>
                            <m:t>∗</m:t>
                          </m:r>
                        </m:sup>
                      </m:sSubSup>
                      <m:func>
                        <m:funcPr>
                          <m:ctrlPr>
                            <a:rPr lang="en-US" sz="1200">
                              <a:latin typeface="Cambria Math" panose="02040503050406030204" pitchFamily="18" charset="0"/>
                            </a:rPr>
                          </m:ctrlPr>
                        </m:funcPr>
                        <m:fName>
                          <m:r>
                            <m:rPr>
                              <m:sty m:val="p"/>
                            </m:rPr>
                            <a:rPr lang="en-US" sz="1200">
                              <a:latin typeface="Cambria Math" panose="02040503050406030204" pitchFamily="18" charset="0"/>
                            </a:rPr>
                            <m:t>cos</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b="0" i="1" smtClean="0">
                              <a:latin typeface="Cambria Math" panose="02040503050406030204" pitchFamily="18" charset="0"/>
                            </a:rPr>
                            <m:t>𝛽</m:t>
                          </m:r>
                        </m:sub>
                        <m:sup>
                          <m:r>
                            <a:rPr lang="en-US" sz="1200" i="1">
                              <a:latin typeface="Cambria Math" panose="02040503050406030204" pitchFamily="18" charset="0"/>
                            </a:rPr>
                            <m:t>∗</m:t>
                          </m:r>
                        </m:sup>
                      </m:sSubSup>
                      <m:r>
                        <a:rPr lang="en-US" sz="1200" i="1">
                          <a:latin typeface="Cambria Math" panose="02040503050406030204" pitchFamily="18" charset="0"/>
                        </a:rPr>
                        <m:t>=</m:t>
                      </m:r>
                      <m:r>
                        <a:rPr lang="en-US" sz="1200" b="0" i="1" smtClean="0">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𝑑</m:t>
                          </m:r>
                        </m:sub>
                        <m:sup>
                          <m:r>
                            <a:rPr lang="en-US" sz="1200" i="1">
                              <a:latin typeface="Cambria Math" panose="02040503050406030204" pitchFamily="18" charset="0"/>
                            </a:rPr>
                            <m:t>∗</m:t>
                          </m:r>
                        </m:sup>
                      </m:sSubSup>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cos</m:t>
                          </m:r>
                        </m:fName>
                        <m:e>
                          <m:r>
                            <a:rPr lang="en-US" sz="1200" i="1">
                              <a:latin typeface="Cambria Math" panose="02040503050406030204" pitchFamily="18" charset="0"/>
                            </a:rPr>
                            <m:t>𝜃</m:t>
                          </m:r>
                        </m:e>
                      </m:func>
                      <m:r>
                        <a:rPr lang="en-US" sz="1200" i="1">
                          <a:latin typeface="Cambria Math" panose="02040503050406030204" pitchFamily="18" charset="0"/>
                        </a:rPr>
                        <m:t>+</m:t>
                      </m:r>
                      <m:sSubSup>
                        <m:sSubSupPr>
                          <m:ctrlPr>
                            <a:rPr lang="en-US" sz="1200" i="1">
                              <a:latin typeface="Cambria Math" panose="02040503050406030204" pitchFamily="18" charset="0"/>
                            </a:rPr>
                          </m:ctrlPr>
                        </m:sSubSupPr>
                        <m:e>
                          <m:r>
                            <a:rPr lang="en-US" sz="1200" i="1">
                              <a:latin typeface="Cambria Math" panose="02040503050406030204" pitchFamily="18" charset="0"/>
                            </a:rPr>
                            <m:t>𝑣</m:t>
                          </m:r>
                        </m:e>
                        <m:sub>
                          <m:r>
                            <a:rPr lang="en-US" sz="1200" i="1">
                              <a:latin typeface="Cambria Math" panose="02040503050406030204" pitchFamily="18" charset="0"/>
                            </a:rPr>
                            <m:t>𝑐𝑜𝑛𝑣</m:t>
                          </m:r>
                          <m:r>
                            <a:rPr lang="en-US" sz="1200" i="1">
                              <a:latin typeface="Cambria Math" panose="02040503050406030204" pitchFamily="18" charset="0"/>
                            </a:rPr>
                            <m:t>,</m:t>
                          </m:r>
                          <m:r>
                            <a:rPr lang="en-US" sz="1200" i="1">
                              <a:latin typeface="Cambria Math" panose="02040503050406030204" pitchFamily="18" charset="0"/>
                            </a:rPr>
                            <m:t>𝑞</m:t>
                          </m:r>
                        </m:sub>
                        <m:sup>
                          <m:r>
                            <a:rPr lang="en-US" sz="1200" i="1">
                              <a:latin typeface="Cambria Math" panose="02040503050406030204" pitchFamily="18" charset="0"/>
                            </a:rPr>
                            <m:t>∗</m:t>
                          </m:r>
                        </m:sup>
                      </m:sSubSup>
                      <m:func>
                        <m:funcPr>
                          <m:ctrlPr>
                            <a:rPr lang="en-US" sz="1200" b="0" i="0" smtClean="0">
                              <a:latin typeface="Cambria Math" panose="02040503050406030204" pitchFamily="18" charset="0"/>
                            </a:rPr>
                          </m:ctrlPr>
                        </m:funcPr>
                        <m:fName>
                          <m:r>
                            <m:rPr>
                              <m:sty m:val="p"/>
                            </m:rPr>
                            <a:rPr lang="en-US" sz="1200" b="0" i="0" smtClean="0">
                              <a:latin typeface="Cambria Math" panose="02040503050406030204" pitchFamily="18" charset="0"/>
                            </a:rPr>
                            <m:t>sin</m:t>
                          </m:r>
                        </m:fName>
                        <m:e>
                          <m:r>
                            <a:rPr lang="en-US" sz="1200" i="1">
                              <a:latin typeface="Cambria Math" panose="02040503050406030204" pitchFamily="18" charset="0"/>
                            </a:rPr>
                            <m:t>𝜃</m:t>
                          </m:r>
                        </m:e>
                      </m:func>
                    </m:oMath>
                  </a14:m>
                  <a:endParaRPr lang="en-US" sz="1200" dirty="0"/>
                </a:p>
                <a:p>
                  <a:pPr marL="342900" indent="-342900">
                    <a:buFont typeface="+mj-lt"/>
                    <a:buAutoNum type="arabicPeriod"/>
                  </a:pP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b="0" i="1" smtClean="0">
                              <a:latin typeface="Cambria Math" panose="02040503050406030204" pitchFamily="18" charset="0"/>
                            </a:rPr>
                            <m:t>∗</m:t>
                          </m:r>
                        </m:sup>
                      </m:sSup>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sSubSup>
                            <m:sSubSupPr>
                              <m:ctrlPr>
                                <a:rPr lang="en-US" sz="1200" b="0" i="1" smtClean="0">
                                  <a:latin typeface="Cambria Math" panose="02040503050406030204" pitchFamily="18" charset="0"/>
                                </a:rPr>
                              </m:ctrlPr>
                            </m:sSubSupPr>
                            <m:e>
                              <m:r>
                                <a:rPr lang="en-US" sz="1200" b="0" i="1" smtClean="0">
                                  <a:latin typeface="Cambria Math" panose="02040503050406030204" pitchFamily="18" charset="0"/>
                                </a:rPr>
                                <m:t>𝑣</m:t>
                              </m:r>
                            </m:e>
                            <m:sub>
                              <m:r>
                                <a:rPr lang="en-US" sz="1200" b="0" i="1" smtClean="0">
                                  <a:latin typeface="Cambria Math" panose="02040503050406030204" pitchFamily="18" charset="0"/>
                                </a:rPr>
                                <m:t>𝑐𝑜𝑛𝑣</m:t>
                              </m:r>
                              <m:r>
                                <a:rPr lang="en-US" sz="1200" b="0" i="1" smtClean="0">
                                  <a:latin typeface="Cambria Math" panose="02040503050406030204" pitchFamily="18" charset="0"/>
                                </a:rPr>
                                <m:t>,</m:t>
                              </m:r>
                              <m:r>
                                <a:rPr lang="en-US" sz="1200" b="0" i="1" smtClean="0">
                                  <a:latin typeface="Cambria Math" panose="02040503050406030204" pitchFamily="18" charset="0"/>
                                </a:rPr>
                                <m:t>𝛼</m:t>
                              </m:r>
                            </m:sub>
                            <m:sup>
                              <m:r>
                                <a:rPr lang="en-US" sz="1200" b="0" i="1" smtClean="0">
                                  <a:latin typeface="Cambria Math" panose="02040503050406030204" pitchFamily="18" charset="0"/>
                                </a:rPr>
                                <m:t>∗</m:t>
                              </m:r>
                            </m:sup>
                          </m:sSubSup>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den>
                      </m:f>
                    </m:oMath>
                  </a14:m>
                  <a:endParaRPr lang="en-US" sz="1200" b="0" dirty="0"/>
                </a:p>
                <a:p>
                  <a:pPr marL="342900" indent="-342900">
                    <a:buFont typeface="+mj-lt"/>
                    <a:buAutoNum type="arabicPeriod"/>
                  </a:pPr>
                  <a14:m>
                    <m:oMath xmlns:m="http://schemas.openxmlformats.org/officeDocument/2006/math">
                      <m:r>
                        <a:rPr lang="en-US" sz="1200" b="0" i="1" smtClean="0">
                          <a:latin typeface="Cambria Math" panose="02040503050406030204" pitchFamily="18" charset="0"/>
                        </a:rPr>
                        <m:t>𝑚</m:t>
                      </m:r>
                      <m:r>
                        <a:rPr lang="en-US" sz="1200" b="0" i="1" smtClean="0">
                          <a:latin typeface="Cambria Math" panose="02040503050406030204" pitchFamily="18" charset="0"/>
                        </a:rPr>
                        <m:t>=</m:t>
                      </m:r>
                      <m:r>
                        <m:rPr>
                          <m:sty m:val="p"/>
                        </m:rPr>
                        <a:rPr lang="en-US" sz="1200" b="0" i="0" smtClean="0">
                          <a:latin typeface="Cambria Math" panose="02040503050406030204" pitchFamily="18" charset="0"/>
                        </a:rPr>
                        <m:t>sat</m:t>
                      </m:r>
                      <m:d>
                        <m:dPr>
                          <m:ctrlPr>
                            <a:rPr lang="en-US" sz="1200" b="0" i="1" smtClean="0">
                              <a:latin typeface="Cambria Math" panose="02040503050406030204" pitchFamily="18" charset="0"/>
                            </a:rPr>
                          </m:ctrlPr>
                        </m:dPr>
                        <m:e>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𝑚</m:t>
                              </m:r>
                            </m:e>
                            <m:sup>
                              <m:r>
                                <a:rPr lang="en-US" sz="1200" b="0" i="1" smtClean="0">
                                  <a:latin typeface="Cambria Math" panose="02040503050406030204" pitchFamily="18" charset="0"/>
                                </a:rPr>
                                <m:t>∗</m:t>
                              </m:r>
                            </m:sup>
                          </m:sSup>
                          <m:r>
                            <a:rPr lang="en-US" sz="1200" b="0" i="1" smtClean="0">
                              <a:latin typeface="Cambria Math" panose="02040503050406030204" pitchFamily="18" charset="0"/>
                            </a:rPr>
                            <m:t>,−1,1</m:t>
                          </m:r>
                        </m:e>
                      </m:d>
                    </m:oMath>
                  </a14:m>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𝑐𝑜𝑛𝑣</m:t>
                          </m:r>
                          <m:r>
                            <a:rPr lang="en-US" sz="1200" b="0" i="1" smtClean="0">
                              <a:latin typeface="Cambria Math" panose="02040503050406030204" pitchFamily="18" charset="0"/>
                            </a:rPr>
                            <m:t>,</m:t>
                          </m:r>
                          <m:r>
                            <a:rPr lang="en-US" sz="1200" b="0" i="1" smtClean="0">
                              <a:latin typeface="Cambria Math" panose="02040503050406030204" pitchFamily="18" charset="0"/>
                            </a:rPr>
                            <m:t>𝛼</m:t>
                          </m:r>
                        </m:sub>
                      </m:sSub>
                      <m:r>
                        <a:rPr lang="en-US" sz="1200" b="0" i="1" smtClean="0">
                          <a:latin typeface="Cambria Math" panose="02040503050406030204" pitchFamily="18" charset="0"/>
                        </a:rPr>
                        <m:t>=</m:t>
                      </m:r>
                      <m:r>
                        <a:rPr lang="en-US" sz="1200" b="0" i="1" smtClean="0">
                          <a:latin typeface="Cambria Math" panose="02040503050406030204" pitchFamily="18" charset="0"/>
                        </a:rPr>
                        <m:t>𝑚</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oMath>
                  </a14:m>
                  <a:endParaRPr lang="en-US" sz="1200" b="0" dirty="0"/>
                </a:p>
                <a:p>
                  <a:pPr marL="342900" indent="-342900">
                    <a:buFont typeface="+mj-lt"/>
                    <a:buAutoNum type="arabicPeriod"/>
                  </a:pPr>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m:t>
                      </m:r>
                      <m:r>
                        <a:rPr lang="en-US" sz="1200" b="0" i="1" smtClean="0">
                          <a:latin typeface="Cambria Math" panose="02040503050406030204" pitchFamily="18" charset="0"/>
                        </a:rPr>
                        <m:t>𝑚</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𝐿</m:t>
                          </m:r>
                        </m:sub>
                      </m:sSub>
                    </m:oMath>
                  </a14:m>
                  <a:endParaRPr lang="en-US" sz="1200" b="0" dirty="0"/>
                </a:p>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f>
                        <m:fPr>
                          <m:ctrlPr>
                            <a:rPr lang="en-US" sz="1200" b="0" i="1" smtClean="0">
                              <a:latin typeface="Cambria Math" panose="02040503050406030204" pitchFamily="18" charset="0"/>
                            </a:rPr>
                          </m:ctrlPr>
                        </m:fPr>
                        <m:num>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𝑠ℎ</m:t>
                              </m:r>
                            </m:sub>
                          </m:sSub>
                        </m:num>
                        <m:den>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𝑠ℎ</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den>
                      </m:f>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𝑅</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𝐶</m:t>
                          </m:r>
                          <m:r>
                            <a:rPr lang="en-US" sz="1200" b="0" i="1" smtClean="0">
                              <a:latin typeface="Cambria Math" panose="02040503050406030204" pitchFamily="18" charset="0"/>
                            </a:rPr>
                            <m:t>,</m:t>
                          </m:r>
                          <m:r>
                            <a:rPr lang="en-US" sz="1200" b="0" i="1" smtClean="0">
                              <a:latin typeface="Cambria Math" panose="02040503050406030204" pitchFamily="18" charset="0"/>
                            </a:rPr>
                            <m:t>𝑑𝑐</m:t>
                          </m:r>
                        </m:sub>
                      </m:sSub>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𝑖</m:t>
                          </m:r>
                        </m:e>
                        <m:sub>
                          <m:r>
                            <a:rPr lang="en-US" sz="1200" b="0" i="1" smtClean="0">
                              <a:latin typeface="Cambria Math" panose="02040503050406030204" pitchFamily="18" charset="0"/>
                            </a:rPr>
                            <m:t>𝑏</m:t>
                          </m:r>
                        </m:sub>
                      </m:sSub>
                      <m:r>
                        <a:rPr lang="en-US" sz="1200" b="0" i="1" smtClean="0">
                          <a:latin typeface="Cambria Math" panose="02040503050406030204" pitchFamily="18" charset="0"/>
                        </a:rPr>
                        <m:t>)]</m:t>
                      </m:r>
                    </m:oMath>
                  </a14:m>
                  <a:endParaRPr lang="en-US" sz="1200" dirty="0"/>
                </a:p>
              </p:txBody>
            </p:sp>
          </mc:Choice>
          <mc:Fallback xmlns="">
            <p:sp>
              <p:nvSpPr>
                <p:cNvPr id="6" name="TextBox 5">
                  <a:extLst>
                    <a:ext uri="{FF2B5EF4-FFF2-40B4-BE49-F238E27FC236}">
                      <a16:creationId xmlns:a16="http://schemas.microsoft.com/office/drawing/2014/main" id="{56B9A346-2583-3836-699F-C1F88B35F2D2}"/>
                    </a:ext>
                  </a:extLst>
                </p:cNvPr>
                <p:cNvSpPr txBox="1">
                  <a:spLocks noRot="1" noChangeAspect="1" noMove="1" noResize="1" noEditPoints="1" noAdjustHandles="1" noChangeArrowheads="1" noChangeShapeType="1" noTextEdit="1"/>
                </p:cNvSpPr>
                <p:nvPr/>
              </p:nvSpPr>
              <p:spPr>
                <a:xfrm>
                  <a:off x="6053725" y="768915"/>
                  <a:ext cx="4090202" cy="5571619"/>
                </a:xfrm>
                <a:prstGeom prst="rect">
                  <a:avLst/>
                </a:prstGeom>
                <a:blipFill>
                  <a:blip r:embed="rId3"/>
                  <a:stretch>
                    <a:fillRect l="-3061" t="-1127" r="-16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ED76158-0A67-E145-1633-865FA7E104E8}"/>
                    </a:ext>
                  </a:extLst>
                </p:cNvPr>
                <p:cNvSpPr txBox="1"/>
                <p:nvPr/>
              </p:nvSpPr>
              <p:spPr>
                <a:xfrm>
                  <a:off x="10650414" y="768915"/>
                  <a:ext cx="1542399" cy="1244711"/>
                </a:xfrm>
                <a:prstGeom prst="rect">
                  <a:avLst/>
                </a:prstGeom>
                <a:noFill/>
              </p:spPr>
              <p:txBody>
                <a:bodyPr wrap="none" lIns="0" tIns="0" rIns="0" bIns="0" rtlCol="0">
                  <a:spAutoFit/>
                </a:bodyPr>
                <a:lstStyle/>
                <a:p>
                  <a:pPr marL="342900" indent="-342900">
                    <a:buFont typeface="+mj-lt"/>
                    <a:buAutoNum type="arabicPeriod"/>
                  </a:pPr>
                  <a14:m>
                    <m:oMath xmlns:m="http://schemas.openxmlformats.org/officeDocument/2006/math">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𝑣</m:t>
                          </m:r>
                        </m:e>
                        <m:sub>
                          <m:r>
                            <a:rPr lang="en-US" sz="1200" b="0" i="1" smtClean="0">
                              <a:latin typeface="Cambria Math" panose="02040503050406030204" pitchFamily="18" charset="0"/>
                            </a:rPr>
                            <m:t>𝑑</m:t>
                          </m:r>
                          <m:r>
                            <a:rPr lang="en-US" sz="1200" b="0" i="1" smtClean="0">
                              <a:latin typeface="Cambria Math" panose="02040503050406030204" pitchFamily="18" charset="0"/>
                            </a:rPr>
                            <m:t>,</m:t>
                          </m:r>
                          <m:r>
                            <a:rPr lang="en-US" sz="1200" b="0" i="1" smtClean="0">
                              <a:latin typeface="Cambria Math" panose="02040503050406030204" pitchFamily="18" charset="0"/>
                            </a:rPr>
                            <m:t>𝑓𝑓</m:t>
                          </m:r>
                        </m:sub>
                      </m:sSub>
                      <m:r>
                        <a:rPr lang="en-US" sz="1200" b="0" i="1" smtClean="0">
                          <a:latin typeface="Cambria Math" panose="02040503050406030204" pitchFamily="18" charset="0"/>
                        </a:rPr>
                        <m:t>=170</m:t>
                      </m:r>
                    </m:oMath>
                  </a14:m>
                  <a:endParaRPr lang="en-US" sz="1200" b="0" dirty="0"/>
                </a:p>
                <a:p>
                  <a:pPr marL="342900" indent="-342900">
                    <a:buFont typeface="+mj-lt"/>
                    <a:buAutoNum type="arabicPeriod"/>
                  </a:pPr>
                  <a14:m>
                    <m:oMath xmlns:m="http://schemas.openxmlformats.org/officeDocument/2006/math">
                      <m:sSub>
                        <m:sSubPr>
                          <m:ctrlPr>
                            <a:rPr lang="en-US" sz="1200" i="1">
                              <a:latin typeface="Cambria Math" panose="02040503050406030204" pitchFamily="18" charset="0"/>
                            </a:rPr>
                          </m:ctrlPr>
                        </m:sSubPr>
                        <m:e>
                          <m:r>
                            <a:rPr lang="en-US" sz="1200" i="1">
                              <a:latin typeface="Cambria Math" panose="02040503050406030204" pitchFamily="18" charset="0"/>
                            </a:rPr>
                            <m:t>𝑣</m:t>
                          </m:r>
                        </m:e>
                        <m:sub>
                          <m:r>
                            <a:rPr lang="en-US" sz="1200" b="0" i="1" smtClean="0">
                              <a:latin typeface="Cambria Math" panose="02040503050406030204" pitchFamily="18" charset="0"/>
                            </a:rPr>
                            <m:t>𝑞</m:t>
                          </m:r>
                          <m:r>
                            <a:rPr lang="en-US" sz="1200" i="1">
                              <a:latin typeface="Cambria Math" panose="02040503050406030204" pitchFamily="18" charset="0"/>
                            </a:rPr>
                            <m:t>,</m:t>
                          </m:r>
                          <m:r>
                            <a:rPr lang="en-US" sz="1200" i="1">
                              <a:latin typeface="Cambria Math" panose="02040503050406030204" pitchFamily="18" charset="0"/>
                            </a:rPr>
                            <m:t>𝑓𝑓</m:t>
                          </m:r>
                        </m:sub>
                      </m:sSub>
                      <m:r>
                        <a:rPr lang="en-US" sz="1200" i="1">
                          <a:latin typeface="Cambria Math" panose="02040503050406030204" pitchFamily="18" charset="0"/>
                        </a:rPr>
                        <m:t>=</m:t>
                      </m:r>
                      <m:r>
                        <a:rPr lang="en-US" sz="1200" b="0" i="1" smtClean="0">
                          <a:latin typeface="Cambria Math" panose="02040503050406030204" pitchFamily="18" charset="0"/>
                        </a:rPr>
                        <m:t>0</m:t>
                      </m:r>
                    </m:oMath>
                  </a14:m>
                  <a:endParaRPr lang="en-US" sz="1200" b="0" dirty="0"/>
                </a:p>
                <a:p>
                  <a:pPr marL="342900" indent="-342900">
                    <a:buFont typeface="+mj-lt"/>
                    <a:buAutoNum type="arabicPeriod"/>
                  </a:pPr>
                  <a14:m>
                    <m:oMath xmlns:m="http://schemas.openxmlformats.org/officeDocument/2006/math">
                      <m:sSubSup>
                        <m:sSubSupPr>
                          <m:ctrlPr>
                            <a:rPr lang="en-US" sz="1200" i="1">
                              <a:latin typeface="Cambria Math" panose="02040503050406030204" pitchFamily="18" charset="0"/>
                            </a:rPr>
                          </m:ctrlPr>
                        </m:sSubSupPr>
                        <m:e>
                          <m:r>
                            <a:rPr lang="en-US" sz="1200" i="1">
                              <a:latin typeface="Cambria Math" panose="02040503050406030204" pitchFamily="18" charset="0"/>
                            </a:rPr>
                            <m:t>𝑖</m:t>
                          </m:r>
                        </m:e>
                        <m:sub>
                          <m:r>
                            <a:rPr lang="en-US" sz="1200" b="0" i="1" smtClean="0">
                              <a:latin typeface="Cambria Math" panose="02040503050406030204" pitchFamily="18" charset="0"/>
                            </a:rPr>
                            <m:t>𝑑</m:t>
                          </m:r>
                        </m:sub>
                        <m:sup>
                          <m:r>
                            <a:rPr lang="en-US" sz="1200" i="1">
                              <a:latin typeface="Cambria Math" panose="02040503050406030204" pitchFamily="18" charset="0"/>
                            </a:rPr>
                            <m:t>∗</m:t>
                          </m:r>
                        </m:sup>
                      </m:sSubSup>
                      <m:r>
                        <a:rPr lang="en-US" sz="1200" i="1">
                          <a:latin typeface="Cambria Math" panose="02040503050406030204" pitchFamily="18" charset="0"/>
                        </a:rPr>
                        <m:t>=</m:t>
                      </m:r>
                      <m:r>
                        <a:rPr lang="en-US" sz="1200" b="0" i="1" smtClean="0">
                          <a:latin typeface="Cambria Math" panose="02040503050406030204" pitchFamily="18" charset="0"/>
                        </a:rPr>
                        <m:t>12</m:t>
                      </m:r>
                    </m:oMath>
                  </a14:m>
                  <a:endParaRPr lang="en-US" sz="1200" b="0" i="1" dirty="0">
                    <a:latin typeface="Cambria Math" panose="02040503050406030204" pitchFamily="18" charset="0"/>
                  </a:endParaRPr>
                </a:p>
                <a:p>
                  <a:pPr marL="342900" indent="-342900">
                    <a:buFont typeface="+mj-lt"/>
                    <a:buAutoNum type="arabicPeriod"/>
                  </a:pPr>
                  <a14:m>
                    <m:oMath xmlns:m="http://schemas.openxmlformats.org/officeDocument/2006/math">
                      <m:sSubSup>
                        <m:sSubSupPr>
                          <m:ctrlPr>
                            <a:rPr lang="en-US" sz="1200" i="1" smtClean="0">
                              <a:latin typeface="Cambria Math" panose="02040503050406030204" pitchFamily="18" charset="0"/>
                            </a:rPr>
                          </m:ctrlPr>
                        </m:sSubSupPr>
                        <m:e>
                          <m:r>
                            <a:rPr lang="en-US" sz="1200" i="1" smtClean="0">
                              <a:latin typeface="Cambria Math" panose="02040503050406030204" pitchFamily="18" charset="0"/>
                            </a:rPr>
                            <m:t>𝑖</m:t>
                          </m:r>
                        </m:e>
                        <m:sub>
                          <m:r>
                            <a:rPr lang="en-US" sz="1200" b="0" i="1" smtClean="0">
                              <a:latin typeface="Cambria Math" panose="02040503050406030204" pitchFamily="18" charset="0"/>
                            </a:rPr>
                            <m:t>𝑞</m:t>
                          </m:r>
                        </m:sub>
                        <m:sup>
                          <m:r>
                            <a:rPr lang="en-US" sz="1200" b="0" i="1" smtClean="0">
                              <a:latin typeface="Cambria Math" panose="02040503050406030204" pitchFamily="18" charset="0"/>
                            </a:rPr>
                            <m:t>∗</m:t>
                          </m:r>
                        </m:sup>
                      </m:sSubSup>
                      <m:r>
                        <a:rPr lang="en-US" sz="1200" b="0" i="1" smtClean="0">
                          <a:latin typeface="Cambria Math" panose="02040503050406030204" pitchFamily="18" charset="0"/>
                        </a:rPr>
                        <m:t>=0</m:t>
                      </m:r>
                    </m:oMath>
                  </a14:m>
                  <a:endParaRPr lang="en-US" sz="1200" dirty="0"/>
                </a:p>
                <a:p>
                  <a:pPr marL="342900" indent="-342900">
                    <a:buFont typeface="+mj-lt"/>
                    <a:buAutoNum type="arabicPeriod"/>
                  </a:pPr>
                  <a14:m>
                    <m:oMath xmlns:m="http://schemas.openxmlformats.org/officeDocument/2006/math">
                      <m:r>
                        <a:rPr lang="en-US" sz="1200" b="0" i="1" smtClean="0">
                          <a:latin typeface="Cambria Math" panose="02040503050406030204" pitchFamily="18" charset="0"/>
                        </a:rPr>
                        <m:t>𝜙</m:t>
                      </m:r>
                      <m:r>
                        <a:rPr lang="en-US" sz="1200" b="0" i="1" smtClean="0">
                          <a:latin typeface="Cambria Math" panose="02040503050406030204" pitchFamily="18" charset="0"/>
                        </a:rPr>
                        <m:t>=</m:t>
                      </m:r>
                      <m:sSub>
                        <m:sSubPr>
                          <m:ctrlPr>
                            <a:rPr lang="en-US" sz="1200" b="0" i="1" smtClean="0">
                              <a:latin typeface="Cambria Math" panose="02040503050406030204" pitchFamily="18" charset="0"/>
                            </a:rPr>
                          </m:ctrlPr>
                        </m:sSubPr>
                        <m:e>
                          <m:r>
                            <a:rPr lang="en-US" sz="1200" b="0" i="1" smtClean="0">
                              <a:latin typeface="Cambria Math" panose="02040503050406030204" pitchFamily="18" charset="0"/>
                            </a:rPr>
                            <m:t>𝜔</m:t>
                          </m:r>
                        </m:e>
                        <m:sub>
                          <m:r>
                            <a:rPr lang="en-US" sz="1200" b="0" i="1" smtClean="0">
                              <a:latin typeface="Cambria Math" panose="02040503050406030204" pitchFamily="18" charset="0"/>
                            </a:rPr>
                            <m:t>0</m:t>
                          </m:r>
                        </m:sub>
                      </m:sSub>
                      <m:r>
                        <a:rPr lang="en-US" sz="1200" b="0" i="1" smtClean="0">
                          <a:latin typeface="Cambria Math" panose="02040503050406030204" pitchFamily="18" charset="0"/>
                        </a:rPr>
                        <m:t>𝑡</m:t>
                      </m:r>
                    </m:oMath>
                  </a14:m>
                  <a:endParaRPr lang="en-US" sz="1200" dirty="0"/>
                </a:p>
              </p:txBody>
            </p:sp>
          </mc:Choice>
          <mc:Fallback xmlns="">
            <p:sp>
              <p:nvSpPr>
                <p:cNvPr id="8" name="TextBox 7">
                  <a:extLst>
                    <a:ext uri="{FF2B5EF4-FFF2-40B4-BE49-F238E27FC236}">
                      <a16:creationId xmlns:a16="http://schemas.microsoft.com/office/drawing/2014/main" id="{4ED76158-0A67-E145-1633-865FA7E104E8}"/>
                    </a:ext>
                  </a:extLst>
                </p:cNvPr>
                <p:cNvSpPr txBox="1">
                  <a:spLocks noRot="1" noChangeAspect="1" noMove="1" noResize="1" noEditPoints="1" noAdjustHandles="1" noChangeArrowheads="1" noChangeShapeType="1" noTextEdit="1"/>
                </p:cNvSpPr>
                <p:nvPr/>
              </p:nvSpPr>
              <p:spPr>
                <a:xfrm>
                  <a:off x="10650414" y="768915"/>
                  <a:ext cx="1542399" cy="1244711"/>
                </a:xfrm>
                <a:prstGeom prst="rect">
                  <a:avLst/>
                </a:prstGeom>
                <a:blipFill>
                  <a:blip r:embed="rId4"/>
                  <a:stretch>
                    <a:fillRect l="-8696" t="-5031" r="-4891" b="-8176"/>
                  </a:stretch>
                </a:blipFill>
              </p:spPr>
              <p:txBody>
                <a:bodyPr/>
                <a:lstStyle/>
                <a:p>
                  <a:r>
                    <a:rPr lang="en-US">
                      <a:noFill/>
                    </a:rPr>
                    <a:t> </a:t>
                  </a:r>
                </a:p>
              </p:txBody>
            </p:sp>
          </mc:Fallback>
        </mc:AlternateContent>
      </p:grpSp>
      <p:sp>
        <p:nvSpPr>
          <p:cNvPr id="9" name="TextBox 8">
            <a:extLst>
              <a:ext uri="{FF2B5EF4-FFF2-40B4-BE49-F238E27FC236}">
                <a16:creationId xmlns:a16="http://schemas.microsoft.com/office/drawing/2014/main" id="{D1C9F44A-4A49-81DC-55F9-98D736B737BE}"/>
              </a:ext>
            </a:extLst>
          </p:cNvPr>
          <p:cNvSpPr txBox="1"/>
          <p:nvPr/>
        </p:nvSpPr>
        <p:spPr>
          <a:xfrm>
            <a:off x="609600" y="245950"/>
            <a:ext cx="1537600" cy="584775"/>
          </a:xfrm>
          <a:prstGeom prst="rect">
            <a:avLst/>
          </a:prstGeom>
          <a:noFill/>
        </p:spPr>
        <p:txBody>
          <a:bodyPr wrap="none" rtlCol="0">
            <a:spAutoFit/>
          </a:bodyPr>
          <a:lstStyle/>
          <a:p>
            <a:r>
              <a:rPr lang="en-US" sz="3200" dirty="0"/>
              <a:t>Inverter</a:t>
            </a:r>
          </a:p>
        </p:txBody>
      </p:sp>
    </p:spTree>
    <p:extLst>
      <p:ext uri="{BB962C8B-B14F-4D97-AF65-F5344CB8AC3E}">
        <p14:creationId xmlns:p14="http://schemas.microsoft.com/office/powerpoint/2010/main" val="326848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58837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1198</Words>
  <Application>Microsoft Macintosh PowerPoint</Application>
  <PresentationFormat>Widescreen</PresentationFormat>
  <Paragraphs>165</Paragraphs>
  <Slides>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Aptos Display</vt:lpstr>
      <vt:lpstr>Arial</vt:lpstr>
      <vt:lpstr>Calibri</vt:lpstr>
      <vt:lpstr>Cambria Math</vt:lpstr>
      <vt:lpstr>Office Theme</vt:lpstr>
      <vt:lpstr>Type 4 SST full-order differential-algebraic equations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Lea Manglicmot</dc:creator>
  <cp:lastModifiedBy>Lea Manglicmot</cp:lastModifiedBy>
  <cp:revision>1</cp:revision>
  <dcterms:created xsi:type="dcterms:W3CDTF">2026-10-06T12:50:44Z</dcterms:created>
  <dcterms:modified xsi:type="dcterms:W3CDTF">2026-10-06T12:50:49Z</dcterms:modified>
</cp:coreProperties>
</file>